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entury Gothic"/>
              </a:rPr>
              <a:t>Scaling EcoCharge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110944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FF9A4D"/>
                </a:solidFill>
                <a:latin typeface="Segoe UI"/>
              </a:rPr>
              <a:t>A Technology Roadmap for National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Perspective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Chief Technology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Prepared By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Keshav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Case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EcoCharge Leadership Case Study — Scaling EcoCharge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ECOCHARGE —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Case Study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entury Gothic"/>
              </a:rPr>
              <a:t>The CTO's Mandate in This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11430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22222A"/>
                </a:solidFill>
                <a:latin typeface="Segoe UI"/>
              </a:rPr>
              <a:t>My job is not to fix marketing, financing, or reverse logistics — it's to make sure the technology can be trusted, manufactured, and defended at 10x today's volume. Every recommendation below is filtered through that lens.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entury Gothic"/>
              </a:rPr>
              <a:t>Working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Current stage:  </a:t>
            </a:r>
            <a:r>
              <a:rPr sz="1250" i="1">
                <a:solidFill>
                  <a:srgbClr val="22222A"/>
                </a:solidFill>
                <a:latin typeface="Segoe UI"/>
              </a:rPr>
              <a:t>lab-validated, pilot-deployed with institutional customers (stationary storage, not yet consumer).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Team:  </a:t>
            </a:r>
            <a:r>
              <a:rPr sz="1250" i="1">
                <a:solidFill>
                  <a:srgbClr val="22222A"/>
                </a:solidFill>
                <a:latin typeface="Segoe UI"/>
              </a:rPr>
              <a:t>4 engineering co-founders — no dedicated manufacturing or quality function yet.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Feedstock:  </a:t>
            </a:r>
            <a:r>
              <a:rPr sz="1250" i="1">
                <a:solidFill>
                  <a:srgbClr val="22222A"/>
                </a:solidFill>
                <a:latin typeface="Segoe UI"/>
              </a:rPr>
              <a:t>industrial + e-waste inputs, meaning material composition varies by batch and by region.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Capital:  </a:t>
            </a:r>
            <a:r>
              <a:rPr sz="1250" i="1">
                <a:solidFill>
                  <a:srgbClr val="22222A"/>
                </a:solidFill>
                <a:latin typeface="Segoe UI"/>
              </a:rPr>
              <a:t>early growth-stage funding — enough for one major scale-up bet, not several in parallel.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entury Gothic"/>
              </a:rPr>
              <a:t>Guiding Principles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Reliability before reach.  </a:t>
            </a:r>
            <a:r>
              <a:rPr sz="1250" i="1">
                <a:solidFill>
                  <a:srgbClr val="22222A"/>
                </a:solidFill>
                <a:latin typeface="Segoe UI"/>
              </a:rPr>
              <a:t>No mass-market push until failure and lifespan data exist to back it.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Design for manufacturability,  </a:t>
            </a:r>
            <a:r>
              <a:rPr sz="1250" i="1">
                <a:solidFill>
                  <a:srgbClr val="22222A"/>
                </a:solidFill>
                <a:latin typeface="Segoe UI"/>
              </a:rPr>
              <a:t>not just for the lab bench, from the next revision onward.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Vertical-integrate only the moat:  </a:t>
            </a:r>
            <a:r>
              <a:rPr sz="1250" i="1">
                <a:solidFill>
                  <a:srgbClr val="22222A"/>
                </a:solidFill>
                <a:latin typeface="Segoe UI"/>
              </a:rPr>
              <a:t>core chemistry &amp; QC in-house, commodity steps out.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Protect what's actually defensible,  </a:t>
            </a:r>
            <a:r>
              <a:rPr sz="1250" i="1">
                <a:solidFill>
                  <a:srgbClr val="22222A"/>
                </a:solidFill>
                <a:latin typeface="Segoe UI"/>
              </a:rPr>
              <a:t>not everything — patents are expensive and slow.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ECOCHARGE —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Case Study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TECHNICAL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entury Gothic"/>
              </a:rPr>
              <a:t>Closing the Reliability Gap Before Mass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Customer skepticism about lifespan is a data problem, not a messaging problem — marketing can't sell what engineering hasn't proven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Technology Readiness Ladder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77440"/>
            <a:ext cx="1794510" cy="100584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377440"/>
            <a:ext cx="164820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TRL 6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Pilot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270" y="2377440"/>
            <a:ext cx="228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8870" y="2377440"/>
            <a:ext cx="1794510" cy="10058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2022" y="2377440"/>
            <a:ext cx="164820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TRL 7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Field data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(12+ 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3380" y="2377440"/>
            <a:ext cx="228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1980" y="2377440"/>
            <a:ext cx="1794510" cy="100584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5132" y="2377440"/>
            <a:ext cx="164820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TRL 8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Cert. &amp;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process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6490" y="2377440"/>
            <a:ext cx="228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5090" y="2377440"/>
            <a:ext cx="1794510" cy="100584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8242" y="2377440"/>
            <a:ext cx="164820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TRL 9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Mass mfg.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56616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We are here — the gap to TRL 9 is what this roadmap closes over 3 years.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2336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Priority Work Before Scale-Up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34840"/>
            <a:ext cx="7863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Accelerated + real-world aging tests  </a:t>
            </a:r>
            <a:r>
              <a:rPr sz="1200" i="1">
                <a:solidFill>
                  <a:srgbClr val="22222A"/>
                </a:solidFill>
                <a:latin typeface="Segoe UI"/>
              </a:rPr>
              <a:t>to publish an honest cycle-life and lifespan number, not a lab-only figure.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Third-party safety certification  </a:t>
            </a:r>
            <a:r>
              <a:rPr sz="1200" i="1">
                <a:solidFill>
                  <a:srgbClr val="22222A"/>
                </a:solidFill>
                <a:latin typeface="Segoe UI"/>
              </a:rPr>
              <a:t>(UL 1973 / IEC 62619-class testing) to give customers and insurers an external trust signal.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Feedstock-variability testing  </a:t>
            </a:r>
            <a:r>
              <a:rPr sz="1200" i="1">
                <a:solidFill>
                  <a:srgbClr val="22222A"/>
                </a:solidFill>
                <a:latin typeface="Segoe UI"/>
              </a:rPr>
              <a:t>so performance is proven across the realistic range of waste-material inputs, not one clean batch.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9659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4198"/>
                </a:solidFill>
                <a:latin typeface="Century Gothic"/>
              </a:rPr>
              <a:t>Why This Is the CTO's Fix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377440"/>
            <a:ext cx="3291840" cy="36576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542032"/>
            <a:ext cx="29260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22222A"/>
                </a:solidFill>
                <a:latin typeface="Segoe UI"/>
              </a:rPr>
              <a:t>Every trust claim CMO makes about "reliable batteries from waste" has to be backed by a test report. That report is engineering's deliverable, not marketing's — so reliability data is treated here as a Year-1 R&amp;D output, not an afterthought.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ECOCHARGE —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Case Study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MANUFACTURING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entury Gothic"/>
              </a:rPr>
              <a:t>Build, Outsource, or Partner — Not All Three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With limited capital, full in-house manufacturing is the wrong first bet. The rule: keep the parts that are the moat, buy the parts that are commodity.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57400"/>
            <a:ext cx="3566160" cy="68580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Keep In-House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163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0B2447"/>
                </a:solidFill>
                <a:latin typeface="Segoe UI"/>
              </a:rPr>
              <a:t>Core material process</a:t>
            </a:r>
          </a:p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0B2447"/>
                </a:solidFill>
                <a:latin typeface="Segoe UI"/>
              </a:rPr>
              <a:t>&amp; formulation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3566160" cy="201168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45643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Waste sorting / purification recipe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5935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Electrode formulation &amp; mixing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46227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Final QC &amp; cell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86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This is the patent. Outsourcing it hands a competitor the moat.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057400"/>
            <a:ext cx="3566160" cy="68580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10312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Outsource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8163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0B2447"/>
                </a:solidFill>
                <a:latin typeface="Segoe UI"/>
              </a:rPr>
              <a:t>Commodity manufacturing</a:t>
            </a:r>
          </a:p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0B2447"/>
                </a:solidFill>
                <a:latin typeface="Segoe UI"/>
              </a:rPr>
              <a:t>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337560"/>
            <a:ext cx="3566160" cy="201168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345643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Cell casing / 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95935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PCB &amp; BMS electronics assembly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446227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Pack-level assembly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486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Contract manufacturers already run these at scale, cheaper and faster than we can build.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2057400"/>
            <a:ext cx="3566160" cy="68580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103120"/>
            <a:ext cx="3291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163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0B2447"/>
                </a:solidFill>
                <a:latin typeface="Segoe UI"/>
              </a:rPr>
              <a:t>Capital equipment &amp;</a:t>
            </a:r>
          </a:p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0B2447"/>
                </a:solidFill>
                <a:latin typeface="Segoe UI"/>
              </a:rPr>
              <a:t>scale-up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337560"/>
            <a:ext cx="3566160" cy="201168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345643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Pilot-to-mass-production line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395935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Regional assembly partners as volume grows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4462272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2222A"/>
                </a:solidFill>
                <a:latin typeface="Segoe UI"/>
              </a:rPr>
              <a:t>•  Equipment financing / leasing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86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Avoids a large upfront capex bet before demand is proven regionally.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ECOCHARGE —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Case Study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entury Gothic"/>
              </a:rPr>
              <a:t>Maintaining Quality as Production Scales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Quality can't be inspected in at the end of the line — it has to be a closed loop that feeds back into R&amp;D.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2686050" cy="100584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103120"/>
            <a:ext cx="253974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Incoming Material QC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(waste feedstock)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1810" y="2103120"/>
            <a:ext cx="228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80410" y="2103120"/>
            <a:ext cx="2686050" cy="100584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3562" y="2103120"/>
            <a:ext cx="253974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In-Process SPC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(statistical control)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6460" y="2103120"/>
            <a:ext cx="228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2103120"/>
            <a:ext cx="2686050" cy="10058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8212" y="2103120"/>
            <a:ext cx="253974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Outgoing &amp; Field QC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(cert. + telemetry)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1110" y="2103120"/>
            <a:ext cx="228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9710" y="2103120"/>
            <a:ext cx="2686050" cy="100584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2862" y="2103120"/>
            <a:ext cx="253974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Feedback to R&amp;D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(design update)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46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The loop closes: field QC and BMS telemetry data flow back into the next material/design revision.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94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Systems to Put in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0624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Digital batch traceability  </a:t>
            </a:r>
            <a:r>
              <a:rPr sz="1200" i="1">
                <a:solidFill>
                  <a:srgbClr val="22222A"/>
                </a:solidFill>
                <a:latin typeface="Segoe UI"/>
              </a:rPr>
              <a:t>— every cell traceable to its feedstock batch and process run, essential given input variability.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Statistical process control (SPC)  </a:t>
            </a:r>
            <a:r>
              <a:rPr sz="1200" i="1">
                <a:solidFill>
                  <a:srgbClr val="22222A"/>
                </a:solidFill>
                <a:latin typeface="Segoe UI"/>
              </a:rPr>
              <a:t>on the 2-3 process steps most sensitive to feedstock variation.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Certification roadmap  </a:t>
            </a:r>
            <a:r>
              <a:rPr sz="1200" i="1">
                <a:solidFill>
                  <a:srgbClr val="22222A"/>
                </a:solidFill>
                <a:latin typeface="Segoe UI"/>
              </a:rPr>
              <a:t>aligned to target markets (safety + performance standards) before scale-up, not 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94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4198"/>
                </a:solidFill>
                <a:latin typeface="Century Gothic"/>
              </a:rPr>
              <a:t>Why Traceability Is Non-Negotiable 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2194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70832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22222A"/>
                </a:solidFill>
                <a:latin typeface="Segoe UI"/>
              </a:rPr>
              <a:t>Unlike a conventional battery maker with uniform raw material, our feedstock is heterogeneous by design. Batch-level traceability is what lets us isolate a quality issue to a specific waste-material source instead of scrapping entire production runs — it's a cost-control tool as much as a quality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ECOCHARGE —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Case Study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R&amp;D &amp; IP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entury Gothic"/>
              </a:rPr>
              <a:t>Where to Invest Engineering Effort — and What to 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R&amp;D Priorities (in order)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1. Feedstock flexibility.  </a:t>
            </a:r>
            <a:r>
              <a:rPr sz="1250" i="1">
                <a:solidFill>
                  <a:srgbClr val="22222A"/>
                </a:solidFill>
                <a:latin typeface="Segoe UI"/>
              </a:rPr>
              <a:t>Widen the range of acceptable waste inputs — turns raw-material availability from a risk into a moat.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2. Performance parity.  </a:t>
            </a:r>
            <a:r>
              <a:rPr sz="1250" i="1">
                <a:solidFill>
                  <a:srgbClr val="22222A"/>
                </a:solidFill>
                <a:latin typeface="Segoe UI"/>
              </a:rPr>
              <a:t>Close any remaining energy-density gap vs. incumbent Li-ion for the target commercial segments.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3. BMS &amp; monitoring software.  </a:t>
            </a:r>
            <a:r>
              <a:rPr sz="1250" i="1">
                <a:solidFill>
                  <a:srgbClr val="22222A"/>
                </a:solidFill>
                <a:latin typeface="Segoe UI"/>
              </a:rPr>
              <a:t>A software layer for safety and performance is a harder-to-copy, faster-to-iterate moat than the cell alone.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4. Design for second life.  </a:t>
            </a:r>
            <a:r>
              <a:rPr sz="1250" i="1">
                <a:solidFill>
                  <a:srgbClr val="22222A"/>
                </a:solidFill>
                <a:latin typeface="Segoe UI"/>
              </a:rPr>
              <a:t>Build recyclability into the next design revision so reverse logistics (Ops' problem) is cheaper to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IP Protection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486400" cy="96012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562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6A1F"/>
                </a:solidFill>
                <a:latin typeface="Segoe UI"/>
              </a:rPr>
              <a:t>Patent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Core material formulation &amp; waste-purification process (already filed) — the actual moat.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34640"/>
            <a:ext cx="5486400" cy="96012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077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6A1F"/>
                </a:solidFill>
                <a:latin typeface="Segoe UI"/>
              </a:rPr>
              <a:t>Patent (file next)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BMS/software algorithms and any cell-chemistry variants developed during scale-up.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486400" cy="96012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593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6A1F"/>
                </a:solidFill>
                <a:latin typeface="Segoe UI"/>
              </a:rPr>
              <a:t>Trade secret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Sourcing relationships &amp; feedstock-sorting know-how — faster to protect, hard to patent usefully.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937760"/>
            <a:ext cx="5486400" cy="96012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0109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6A1F"/>
                </a:solidFill>
                <a:latin typeface="Segoe UI"/>
              </a:rPr>
              <a:t>Defensive 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035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Peripheral process tweaks not worth patenting, to block competitors from patenting them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ECOCHARGE — SCALING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Case Study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entury Gothic"/>
              </a:rPr>
              <a:t>3-Year Technology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3611880" cy="54864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entury Gothic"/>
              </a:rPr>
              <a:t>Year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3611880" cy="22860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Field-validate lifespan (12+ mo.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Lock core process; outsource commodity mfg.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1246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File BMS/software patents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508760"/>
            <a:ext cx="320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08760"/>
            <a:ext cx="3611880" cy="5486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508760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entury Gothic"/>
              </a:rPr>
              <a:t>Year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148840"/>
            <a:ext cx="3611880" cy="22860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Safety certification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9923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Scale via contract manufacturing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1246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Digital batch traceability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508760"/>
            <a:ext cx="320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508760"/>
            <a:ext cx="3611880" cy="54864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08760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entury Gothic"/>
              </a:rPr>
              <a:t>Year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48840"/>
            <a:ext cx="3611880" cy="22860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Feedstock flexibility expanded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9923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Selective vertical integration where volume justifies 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1246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•  Design-for-second-life 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0916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4198"/>
                </a:solidFill>
                <a:latin typeface="Century Gothic"/>
              </a:rPr>
              <a:t>What Technology Contributes to Company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12064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22222A"/>
                </a:solidFill>
                <a:latin typeface="Segoe UI"/>
              </a:rPr>
              <a:t>Reliability data gives Marketing a trust claim it can actually defend. A make/outsource split protects the moat while keeping capex within Finance's constraints. Feedstock flexibility turns the biggest supply risk into a durable advantage. That is the Technology function's contribution to scaling EcoCharge nationally.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