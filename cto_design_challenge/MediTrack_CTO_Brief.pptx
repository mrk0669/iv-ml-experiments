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91440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entury Gothic"/>
              </a:rPr>
              <a:t>MediTrack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9928"/>
            <a:ext cx="110944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FF9A4D"/>
                </a:solidFill>
                <a:latin typeface="Segoe UI"/>
              </a:rPr>
              <a:t>CTO Product &amp; Technology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B2447"/>
                </a:solidFill>
                <a:latin typeface="Segoe UI"/>
              </a:rPr>
              <a:t>Perspective :  </a:t>
            </a:r>
            <a:r>
              <a:rPr i="1" sz="1500">
                <a:solidFill>
                  <a:srgbClr val="22222A"/>
                </a:solidFill>
                <a:latin typeface="Segoe UI"/>
              </a:rPr>
              <a:t>Chief Technology Officer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B2447"/>
                </a:solidFill>
                <a:latin typeface="Segoe UI"/>
              </a:rPr>
              <a:t>Prepared By :  </a:t>
            </a:r>
            <a:r>
              <a:rPr i="1" sz="1500">
                <a:solidFill>
                  <a:srgbClr val="22222A"/>
                </a:solidFill>
                <a:latin typeface="Segoe UI"/>
              </a:rPr>
              <a:t>Keshav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B2447"/>
                </a:solidFill>
                <a:latin typeface="Segoe UI"/>
              </a:rPr>
              <a:t>Challenge :  </a:t>
            </a:r>
            <a:r>
              <a:rPr i="1" sz="1500">
                <a:solidFill>
                  <a:srgbClr val="22222A"/>
                </a:solidFill>
                <a:latin typeface="Segoe UI"/>
              </a:rPr>
              <a:t>MediTrack — Family Medicine Tracking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MEDITRACK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Product &amp; Technology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FRAMING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B2447"/>
                </a:solidFill>
                <a:latin typeface="Century Gothic"/>
              </a:rPr>
              <a:t>Four Problems, One Platform — Not an Ad-Hoc Feature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22222A"/>
                </a:solidFill>
                <a:latin typeface="Segoe UI"/>
              </a:rPr>
              <a:t>Every module below exists because it closes one of these four failure modes — nothing shipped in v1 is there for any other reason.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57400"/>
            <a:ext cx="237744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057400"/>
            <a:ext cx="21579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Core Problem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057400"/>
            <a:ext cx="566928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2057400"/>
            <a:ext cx="54498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057400"/>
            <a:ext cx="320040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2057400"/>
            <a:ext cx="29809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Solved By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23160"/>
            <a:ext cx="11430000" cy="896112"/>
          </a:xfrm>
          <a:prstGeom prst="rect">
            <a:avLst/>
          </a:prstGeom>
          <a:solidFill>
            <a:srgbClr val="F3F4F8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423160"/>
            <a:ext cx="215798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7F5B"/>
                </a:solidFill>
                <a:latin typeface="Segoe UI"/>
              </a:rPr>
              <a:t>Forgetfulness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423160"/>
            <a:ext cx="544982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Missed doses; no reliable prompt at the right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423160"/>
            <a:ext cx="298094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Schedule + Reminders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19272"/>
            <a:ext cx="114300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319272"/>
            <a:ext cx="215798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6A1F"/>
                </a:solidFill>
                <a:latin typeface="Segoe UI"/>
              </a:rPr>
              <a:t>Lost prescriptions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3319272"/>
            <a:ext cx="544982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Paper is lost; patient re-guesses dosage instead of seeing a doctor.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3319272"/>
            <a:ext cx="298094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Prescription Mgmt.</a:t>
            </a:r>
          </a:p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(manual + camera)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15384"/>
            <a:ext cx="11430000" cy="896112"/>
          </a:xfrm>
          <a:prstGeom prst="rect">
            <a:avLst/>
          </a:prstGeom>
          <a:solidFill>
            <a:srgbClr val="F3F4F8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215384"/>
            <a:ext cx="215798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658C9"/>
                </a:solidFill>
                <a:latin typeface="Segoe UI"/>
              </a:rPr>
              <a:t>Stock-outs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4215384"/>
            <a:ext cx="544982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Medicine runs out unnoticed until a dose is missed.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4215384"/>
            <a:ext cx="298094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Dashboard low-stock</a:t>
            </a:r>
          </a:p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+ escalating alerts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11496"/>
            <a:ext cx="114300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5111496"/>
            <a:ext cx="215798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4198"/>
                </a:solidFill>
                <a:latin typeface="Segoe UI"/>
              </a:rPr>
              <a:t>No family visibility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4368" y="5111496"/>
            <a:ext cx="544982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No way to confirm a parent or child actually took their dose.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8" y="5111496"/>
            <a:ext cx="298094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Linked Family Profiles</a:t>
            </a:r>
          </a:p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+ Today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190488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5E4198"/>
                </a:solidFill>
                <a:latin typeface="Segoe UI"/>
              </a:rPr>
              <a:t>Product thesis: one platform, usable by any household member regardless of age or technical comfort — not five disconnected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MEDITRACK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Product &amp; Technology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B2447"/>
                </a:solidFill>
                <a:latin typeface="Century Gothic"/>
              </a:rPr>
              <a:t>The Must-Have Loop, End to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2222A"/>
                </a:solidFill>
                <a:latin typeface="Segoe UI"/>
              </a:rPr>
              <a:t>This is the exact sequence that runs live in the demo — every step maps to a required module.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65960"/>
            <a:ext cx="2720340" cy="914400"/>
          </a:xfrm>
          <a:prstGeom prst="round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965960"/>
            <a:ext cx="26106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Family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6100" y="196596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8980" y="1965960"/>
            <a:ext cx="2720340" cy="91440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3844" y="1965960"/>
            <a:ext cx="26106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Add Prescription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(manual / camera)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6596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965960"/>
            <a:ext cx="2720340" cy="91440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965960"/>
            <a:ext cx="26106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Auto-Generated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2540" y="196596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5420" y="1965960"/>
            <a:ext cx="2720340" cy="91440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284" y="1965960"/>
            <a:ext cx="26106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Escalating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Reminder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017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5B6472"/>
                </a:solidFill>
                <a:latin typeface="Segoe U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383280"/>
            <a:ext cx="2720340" cy="91440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" y="3383280"/>
            <a:ext cx="26106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Mark Taken /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Skipped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86100" y="338328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68980" y="3383280"/>
            <a:ext cx="2720340" cy="914400"/>
          </a:xfrm>
          <a:prstGeom prst="round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3844" y="3383280"/>
            <a:ext cx="26106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Today Dashboard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Updates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38328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383280"/>
            <a:ext cx="2720340" cy="914400"/>
          </a:xfrm>
          <a:prstGeom prst="roundRect">
            <a:avLst/>
          </a:prstGeom>
          <a:solidFill>
            <a:srgbClr val="465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7064" y="3383280"/>
            <a:ext cx="26106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Low Stock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Detected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2540" y="338328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75420" y="3383280"/>
            <a:ext cx="2720340" cy="914400"/>
          </a:xfrm>
          <a:prstGeom prst="roundRect">
            <a:avLst/>
          </a:prstGeom>
          <a:solidFill>
            <a:srgbClr val="465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30284" y="3383280"/>
            <a:ext cx="26106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Refill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Reminder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6177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Required Modules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02920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Profiles —  </a:t>
            </a:r>
            <a:r>
              <a:rPr sz="1150" i="1">
                <a:solidFill>
                  <a:srgbClr val="22222A"/>
                </a:solidFill>
                <a:latin typeface="Segoe UI"/>
              </a:rPr>
              <a:t>individual + linked family-unit accounts.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Prescriptions —  </a:t>
            </a:r>
            <a:r>
              <a:rPr sz="1150" i="1">
                <a:solidFill>
                  <a:srgbClr val="22222A"/>
                </a:solidFill>
                <a:latin typeface="Segoe UI"/>
              </a:rPr>
              <a:t>manual entry and camera-based capture.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Schedule —  </a:t>
            </a:r>
            <a:r>
              <a:rPr sz="1150" i="1">
                <a:solidFill>
                  <a:srgbClr val="22222A"/>
                </a:solidFill>
                <a:latin typeface="Segoe UI"/>
              </a:rPr>
              <a:t>dosage, frequency, timing → auto-generated calendar.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02920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Reminders —  </a:t>
            </a:r>
            <a:r>
              <a:rPr sz="1150" i="1">
                <a:solidFill>
                  <a:srgbClr val="22222A"/>
                </a:solidFill>
                <a:latin typeface="Segoe UI"/>
              </a:rPr>
              <a:t>escalating in-app / push notifications.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Dashboard —  </a:t>
            </a:r>
            <a:r>
              <a:rPr sz="1150" i="1">
                <a:solidFill>
                  <a:srgbClr val="22222A"/>
                </a:solidFill>
                <a:latin typeface="Segoe UI"/>
              </a:rPr>
              <a:t>unified "Today" view: upcoming, overdue, low-stock.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MEDITRACK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Product &amp; Technology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B2447"/>
                </a:solidFill>
                <a:latin typeface="Century Gothic"/>
              </a:rPr>
              <a:t>Every Choice Tied to a Specific 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Compact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783080"/>
            <a:ext cx="5394960" cy="502920"/>
          </a:xfrm>
          <a:prstGeom prst="round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Client — Responsive PWA (installable, no app store)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28600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B6472"/>
                </a:solidFill>
                <a:latin typeface="Segoe U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514600"/>
            <a:ext cx="5394960" cy="45720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14600"/>
            <a:ext cx="5394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API Layer (REST)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7180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B6472"/>
                </a:solidFill>
                <a:latin typeface="Segoe U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00400"/>
            <a:ext cx="991209" cy="77724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3200400"/>
            <a:ext cx="88148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Profile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6969" y="3200400"/>
            <a:ext cx="10972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6697" y="3200400"/>
            <a:ext cx="991209" cy="77724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21561" y="3200400"/>
            <a:ext cx="88148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Prescription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+ 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7907" y="3200400"/>
            <a:ext cx="10972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7635" y="3200400"/>
            <a:ext cx="991209" cy="77724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2499" y="3200400"/>
            <a:ext cx="88148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Schedule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8844" y="3200400"/>
            <a:ext cx="10972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68572" y="3200400"/>
            <a:ext cx="991209" cy="77724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23436" y="3200400"/>
            <a:ext cx="88148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Notification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(escalation)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9782" y="3200400"/>
            <a:ext cx="10972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69510" y="3200400"/>
            <a:ext cx="991209" cy="77724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4374" y="3200400"/>
            <a:ext cx="88148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Dashboard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Aggregator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041648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B6472"/>
                </a:solidFill>
                <a:latin typeface="Segoe UI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251960"/>
            <a:ext cx="5394960" cy="457200"/>
          </a:xfrm>
          <a:prstGeom prst="roundRect">
            <a:avLst/>
          </a:prstGeom>
          <a:solidFill>
            <a:srgbClr val="5E4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251960"/>
            <a:ext cx="5394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PostgreSQL — family-linked relational schema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137160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Choice → Requirement It Satisfies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178308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Responsive PWA, not native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039112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22222A"/>
                </a:solidFill>
                <a:latin typeface="Segoe UI"/>
              </a:rPr>
              <a:t>"Any household member, regardless of age or technical comfort" — one link, no install/app-store barrier.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265176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OCR capture + manual-edit fallback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2907792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22222A"/>
                </a:solidFill>
                <a:latin typeface="Segoe UI"/>
              </a:rPr>
              <a:t>"Camera-based capture" is required, but OCR is never 100% — manual fallback keeps it usable for every comfort level.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52044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Rule-based schedule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776472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22222A"/>
                </a:solidFill>
                <a:latin typeface="Segoe UI"/>
              </a:rPr>
              <a:t>Converts dosage + frequency into the required "auto-generated calendar," not a manual calendar entry chore.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38912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Escalating notification queue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645152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22222A"/>
                </a:solidFill>
                <a:latin typeface="Segoe UI"/>
              </a:rPr>
              <a:t>Directly implements the "escalating in-app / push" reminder requirement (gentle → repeat → caregiver alert).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25780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Family-linked relational schema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513832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22222A"/>
                </a:solidFill>
                <a:latin typeface="Segoe UI"/>
              </a:rPr>
              <a:t>Backs both "linked family-unit profiles" and the shared "Today" dashboard from one data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MEDITRACK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Product &amp; Technology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SCOPE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B2447"/>
                </a:solidFill>
                <a:latin typeface="Century Gothic"/>
              </a:rPr>
              <a:t>Feature Prioritization: What Ships When, and 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155448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508760"/>
            <a:ext cx="1335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508760"/>
            <a:ext cx="320040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9968" y="1508760"/>
            <a:ext cx="29809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Feature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508760"/>
            <a:ext cx="274320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1508760"/>
            <a:ext cx="25237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Solves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508760"/>
            <a:ext cx="393192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1508760"/>
            <a:ext cx="37124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Why This 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74520"/>
            <a:ext cx="11430000" cy="1234440"/>
          </a:xfrm>
          <a:prstGeom prst="rect">
            <a:avLst/>
          </a:prstGeom>
          <a:solidFill>
            <a:srgbClr val="F3F4F8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2130552"/>
            <a:ext cx="1280160" cy="36576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13055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Must-Have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1874520"/>
            <a:ext cx="298094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Profiles, prescriptions, schedule, reminders,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1874520"/>
            <a:ext cx="252374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Forgetfulness / lost prescriptions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1874520"/>
            <a:ext cx="371246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472"/>
                </a:solidFill>
                <a:latin typeface="Segoe UI"/>
              </a:rPr>
              <a:t>The full loop has to work live in the demo — none of it is optional.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08960"/>
            <a:ext cx="11430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3364992"/>
            <a:ext cx="1280160" cy="36576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6499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Should-Have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3108960"/>
            <a:ext cx="298094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Low-stock alerts, Smart Scan, Care Circle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108960"/>
            <a:ext cx="252374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Stock-outs / no family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3108960"/>
            <a:ext cx="371246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472"/>
                </a:solidFill>
                <a:latin typeface="Segoe UI"/>
              </a:rPr>
              <a:t>High value, but the product is still demonstrable without them — ships weeks after v1.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43400"/>
            <a:ext cx="11430000" cy="1234440"/>
          </a:xfrm>
          <a:prstGeom prst="rect">
            <a:avLst/>
          </a:prstGeom>
          <a:solidFill>
            <a:srgbClr val="F3F4F8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599432"/>
            <a:ext cx="1280160" cy="365760"/>
          </a:xfrm>
          <a:prstGeom prst="roundRect">
            <a:avLst/>
          </a:prstGeom>
          <a:solidFill>
            <a:srgbClr val="5E4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59943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Could-Have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968" y="4343400"/>
            <a:ext cx="298094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Doctor/pharmacy portal, wearable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0368" y="4343400"/>
            <a:ext cx="252374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Future roadmap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4343400"/>
            <a:ext cx="371246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472"/>
                </a:solidFill>
                <a:latin typeface="Segoe UI"/>
              </a:rPr>
              <a:t>Depends on external partnerships/SDKs outside a prototype timeline.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80644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5E4198"/>
                </a:solidFill>
                <a:latin typeface="Segoe UI"/>
              </a:rPr>
              <a:t>Prioritisation rule: a feature earns Must-Have only if the product is broken without it on day one — everything else is sequenced by how directly it closes one of the four core problems.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MEDITRACK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Product &amp; Technology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CREATIVITY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B2447"/>
                </a:solidFill>
                <a:latin typeface="Century Gothic"/>
              </a:rPr>
              <a:t>Original Feature: The Doctor-Ready Adherence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22222A"/>
                </a:solidFill>
                <a:latin typeface="Segoe UI"/>
              </a:rPr>
              <a:t>The brief names the failure mode directly: once a prescription is lost, patients re-guess dosage rather than going back to a doctor. Every dose-tracking app logs data — almost none close the loop back to the clinical relationship. This does.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How It 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43200"/>
            <a:ext cx="1706880" cy="1005840"/>
          </a:xfrm>
          <a:prstGeom prst="round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743200"/>
            <a:ext cx="159715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Dose logs +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prescriptions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(already captured)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2640" y="2743200"/>
            <a:ext cx="1828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55520" y="2743200"/>
            <a:ext cx="1706880" cy="100584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10384" y="2743200"/>
            <a:ext cx="159715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Tap "Prepare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Visit Summary"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on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2400" y="2743200"/>
            <a:ext cx="1828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5280" y="2743200"/>
            <a:ext cx="1706880" cy="100584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0144" y="2743200"/>
            <a:ext cx="159715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Auto-generated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one-page 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977639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Contents:  </a:t>
            </a:r>
            <a:r>
              <a:rPr sz="1200" i="1">
                <a:solidFill>
                  <a:srgbClr val="22222A"/>
                </a:solidFill>
                <a:latin typeface="Segoe UI"/>
              </a:rPr>
              <a:t>adherence %, missed-dose pattern, current stock, upcoming renewals.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Output:  </a:t>
            </a:r>
            <a:r>
              <a:rPr sz="1200" i="1">
                <a:solidFill>
                  <a:srgbClr val="22222A"/>
                </a:solidFill>
                <a:latin typeface="Segoe UI"/>
              </a:rPr>
              <a:t>shareable PDF/link — show it on-phone or send ahead of the appointment.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Cost to build:  </a:t>
            </a:r>
            <a:r>
              <a:rPr sz="1200" i="1">
                <a:solidFill>
                  <a:srgbClr val="22222A"/>
                </a:solidFill>
                <a:latin typeface="Segoe UI"/>
              </a:rPr>
              <a:t>near-zero — it's a report over data the Must-Have loop already captures.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317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E4198"/>
                </a:solidFill>
                <a:latin typeface="Century Gothic"/>
              </a:rPr>
              <a:t>Why It's the Differentiator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43200"/>
            <a:ext cx="5486400" cy="306324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26080"/>
            <a:ext cx="5120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1">
                <a:solidFill>
                  <a:srgbClr val="22222A"/>
                </a:solidFill>
                <a:latin typeface="Segoe UI"/>
              </a:rPr>
              <a:t>Competing apps optimise for "did you take your pill today." MediTrack optimises for the actual downstream harm named in the brief — patients guessing dosages because going back to a doctor feels like starting over. By turning three months of adherence history into a one-tap, doctor-ready brief, the app removes the exact friction that keeps people from returning to care. It's not a bolt-on feature; it's the payoff for having built the other four modules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MEDITRACK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Product &amp; Technology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B2447"/>
                </a:solidFill>
                <a:latin typeface="Century Gothic"/>
              </a:rPr>
              <a:t>Roadmap &amp; What the Live Demo Shows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63040"/>
            <a:ext cx="3611880" cy="50292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63040"/>
            <a:ext cx="3611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entury Gothic"/>
              </a:rPr>
              <a:t>v1 — 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3611880" cy="196596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194560"/>
            <a:ext cx="32826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Profiles, prescriptions (manual + camera)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697480"/>
            <a:ext cx="32826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Auto schedule + escalating reminders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200400"/>
            <a:ext cx="32826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Today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703320"/>
            <a:ext cx="32826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Doctor-Ready Brief (original feature)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1463040"/>
            <a:ext cx="320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63040"/>
            <a:ext cx="3611880" cy="50292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463040"/>
            <a:ext cx="3611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entury Gothic"/>
              </a:rPr>
              <a:t>v1.1 — Weeks after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057400"/>
            <a:ext cx="3611880" cy="196596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2194560"/>
            <a:ext cx="32826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Low-stock alert 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697480"/>
            <a:ext cx="32826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Smart Scan accuracy improvements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200400"/>
            <a:ext cx="32826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Care Circle shared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1463040"/>
            <a:ext cx="320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463040"/>
            <a:ext cx="3611880" cy="502920"/>
          </a:xfrm>
          <a:prstGeom prst="roundRect">
            <a:avLst/>
          </a:prstGeom>
          <a:solidFill>
            <a:srgbClr val="5E4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463040"/>
            <a:ext cx="3611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entury Gothic"/>
              </a:rPr>
              <a:t>Future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057400"/>
            <a:ext cx="3611880" cy="196596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2194560"/>
            <a:ext cx="32826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Doctor / pharmacy portal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697480"/>
            <a:ext cx="32826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Wearable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200400"/>
            <a:ext cx="32826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Requires external partnerships / SDKs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34340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447"/>
                </a:solidFill>
                <a:latin typeface="Century Gothic"/>
              </a:rPr>
              <a:t>Live Demo Sequence (Must-Have Loop, End to End)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754880"/>
            <a:ext cx="11430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1">
                <a:solidFill>
                  <a:srgbClr val="22222A"/>
                </a:solidFill>
                <a:latin typeface="Segoe UI"/>
              </a:rPr>
              <a:t>Create a family profile  →  scan a paper prescription with the camera  →  watch the schedule auto-generate  →  a reminder fires and escalates  →  mark the dose taken  →  the Today dashboard updates live  →  generate a Doctor-Ready Brief from the same data. Every step traces back to one of the four problems in the brief — nothing shown is a detour from the core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