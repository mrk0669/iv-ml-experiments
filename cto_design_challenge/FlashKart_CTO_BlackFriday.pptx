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entury Gothic"/>
              </a:rPr>
              <a:t>The Black Friday Crash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FF9A4D"/>
                </a:solidFill>
                <a:latin typeface="Segoe UI"/>
              </a:rPr>
              <a:t>Engineering FlashKart for a 50x Traffic Day — Without Failing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Perspective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Chief Technology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Prepared By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Keshav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2447"/>
                </a:solidFill>
                <a:latin typeface="Segoe UI"/>
              </a:rPr>
              <a:t>Scale Target :  </a:t>
            </a:r>
            <a:r>
              <a:rPr i="1" sz="1500">
                <a:solidFill>
                  <a:srgbClr val="22222A"/>
                </a:solidFill>
                <a:latin typeface="Segoe UI"/>
              </a:rPr>
              <a:t>20,000 daily users → 1,000,000 users in a single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212080"/>
            <a:ext cx="6309360" cy="384048"/>
          </a:xfrm>
          <a:prstGeom prst="roundRect">
            <a:avLst/>
          </a:prstGeom>
          <a:solidFill>
            <a:srgbClr val="B3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6309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"The platform cannot fail again." — 3 months, fixed budget.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FLASHKART — THE BLACK FRIDAY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1. TECHNICAL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0B2447"/>
                </a:solidFill>
                <a:latin typeface="Century Gothic"/>
              </a:rPr>
              <a:t>What Actually Breaks at 50x Peak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Last sale's five symptoms all trace back to three root causes — fixing the symptoms individually would just move the failure 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265176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24323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Symptom (Last Sale)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965960"/>
            <a:ext cx="320040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965960"/>
            <a:ext cx="2980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Root Cause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965960"/>
            <a:ext cx="48097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Why It Happens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11064240" cy="9601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331720"/>
            <a:ext cx="91440" cy="960120"/>
          </a:xfrm>
          <a:prstGeom prst="rect">
            <a:avLst/>
          </a:prstGeom>
          <a:solidFill>
            <a:srgbClr val="B3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31720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B2447"/>
                </a:solidFill>
                <a:latin typeface="Segoe UI"/>
              </a:rPr>
              <a:t>Website crashes / slow loading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8" y="2331720"/>
            <a:ext cx="29809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1">
                <a:solidFill>
                  <a:srgbClr val="22222A"/>
                </a:solidFill>
                <a:latin typeface="Segoe UI"/>
              </a:rPr>
              <a:t>Compute + database can't scale horizontally under a spike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331720"/>
            <a:ext cx="48097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Fixed server counts and one primary DB take the full weight of every request, including repetitive catalog reads.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9184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91840"/>
            <a:ext cx="91440" cy="960120"/>
          </a:xfrm>
          <a:prstGeom prst="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291840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B2447"/>
                </a:solidFill>
                <a:latin typeface="Segoe UI"/>
              </a:rPr>
              <a:t>Failed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3291840"/>
            <a:ext cx="29809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1">
                <a:solidFill>
                  <a:srgbClr val="22222A"/>
                </a:solidFill>
                <a:latin typeface="Segoe UI"/>
              </a:rPr>
              <a:t>Payment gateway calls made synchronously, no timeout/retry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291840"/>
            <a:ext cx="48097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A slow gateway response blocks the whole checkout thread instead of failing gracefully or retrying.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11064240" cy="9601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251960"/>
            <a:ext cx="91440" cy="960120"/>
          </a:xfrm>
          <a:prstGeom prst="rect">
            <a:avLst/>
          </a:prstGeom>
          <a:solidFill>
            <a:srgbClr val="465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251960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B2447"/>
                </a:solidFill>
                <a:latin typeface="Segoe UI"/>
              </a:rPr>
              <a:t>Duplicate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4251960"/>
            <a:ext cx="29809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1">
                <a:solidFill>
                  <a:srgbClr val="22222A"/>
                </a:solidFill>
                <a:latin typeface="Segoe UI"/>
              </a:rPr>
              <a:t>No idempotency on order/payment 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251960"/>
            <a:ext cx="48097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A user's retried click (or a client-side retry after a timeout) is processed as a brand-new order.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1208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212080"/>
            <a:ext cx="91440" cy="960120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212080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B2447"/>
                </a:solidFill>
                <a:latin typeface="Segoe UI"/>
              </a:rPr>
              <a:t>Customer complaints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5212080"/>
            <a:ext cx="29809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1">
                <a:solidFill>
                  <a:srgbClr val="22222A"/>
                </a:solidFill>
                <a:latin typeface="Segoe UI"/>
              </a:rPr>
              <a:t>No real-time visibility or customer-facing status during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212080"/>
            <a:ext cx="480974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Users get a blank error with no explanation, and the team learns about the outage from complaints, not alerts.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5E4198"/>
                </a:solidFill>
                <a:latin typeface="Segoe UI"/>
              </a:rPr>
              <a:t>Three fixes — elastic compute/caching, async payment handling, and idempotent writes — address all five symptoms at the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FLASHKART — THE BLACK FRIDAY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2. INFRASTRUCTURE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0B2447"/>
                </a:solidFill>
                <a:latin typeface="Century Gothic"/>
              </a:rPr>
              <a:t>Redesigning the Request Path for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22222A"/>
                </a:solidFill>
                <a:latin typeface="Segoe UI"/>
              </a:rPr>
              <a:t>Design principle: 90%+ of peak traffic is browsing, not buying — cache it aggressively so only real purchase intent reaches the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19"/>
            <a:ext cx="1767840" cy="86868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74519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CDN / Edge Cache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(static + catalog)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1874519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8192" y="1874519"/>
            <a:ext cx="1767840" cy="86868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3912" y="1874519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Load Balancer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+ Waiting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6032" y="1874519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0624" y="1874519"/>
            <a:ext cx="1767840" cy="86868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6344" y="1874519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Auto-Scaling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Stateless App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1874519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874519"/>
            <a:ext cx="1767840" cy="86868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1874519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Redis Cache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(hot reads)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0896" y="1874519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5488" y="1874519"/>
            <a:ext cx="1767840" cy="868680"/>
          </a:xfrm>
          <a:prstGeom prst="round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1208" y="1874519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Async Order Queue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(checkout writes)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3328" y="1874519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7920" y="1874519"/>
            <a:ext cx="1767840" cy="86868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3640" y="1874519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Sharded DB +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Read Replicas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7F5B"/>
                </a:solidFill>
                <a:latin typeface="Century Gothic"/>
              </a:rPr>
              <a:t>Key Architecture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429000"/>
            <a:ext cx="5486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Cache the catalog, not just the CDN:  </a:t>
            </a:r>
            <a:r>
              <a:rPr sz="1150" i="1">
                <a:solidFill>
                  <a:srgbClr val="22222A"/>
                </a:solidFill>
                <a:latin typeface="Segoe UI"/>
              </a:rPr>
              <a:t>product/browse pages served from CDN + Redis, so browsing traffic never touches the primary database.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Decouple checkout from fulfillment:  </a:t>
            </a:r>
            <a:r>
              <a:rPr sz="1150" i="1">
                <a:solidFill>
                  <a:srgbClr val="22222A"/>
                </a:solidFill>
                <a:latin typeface="Segoe UI"/>
              </a:rPr>
              <a:t>"place order" writes to a queue and returns immediately; inventory/fulfillment processes it asynchronously — smooths the spike instead of forcing the DB to absorb it in real time.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Auto-scale stateless compute only:  </a:t>
            </a:r>
            <a:r>
              <a:rPr sz="1150" i="1">
                <a:solidFill>
                  <a:srgbClr val="22222A"/>
                </a:solidFill>
                <a:latin typeface="Segoe UI"/>
              </a:rPr>
              <a:t>app servers hold no session state, so Kubernetes HPA (or equivalent) can add capacity in seconds without sticky-session complexity.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Shard or read-replica the database:  </a:t>
            </a:r>
            <a:r>
              <a:rPr sz="1150" i="1">
                <a:solidFill>
                  <a:srgbClr val="22222A"/>
                </a:solidFill>
                <a:latin typeface="Segoe UI"/>
              </a:rPr>
              <a:t>writes go to a right-sized primary; reads (the vast majority) are served from replicas.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017520"/>
            <a:ext cx="5486400" cy="34290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4198"/>
                </a:solidFill>
                <a:latin typeface="Century Gothic"/>
              </a:rPr>
              <a:t>Trade-off, Stated Plainly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47472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Async checkout means a customer's order confirmation may lag by a few seconds during peak load rather than being instant — an acceptable trade against the alternative of the entire site going down. This is disclosed on the confirmation screen ("processing your order") rather than hidden, which also softens the customer-complaints risk from Slide 2. With a 3-month timeline and fixed budget, this architecture reuses managed cloud services (managed Kubernetes, managed Redis/queue, managed Postgres read replicas) instead of building custom infrastructure — buy proven scale, don't build it from scratch under deadline.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FLASHKART — THE BLACK FRIDAY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3. RELIABILITY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0B2447"/>
                </a:solidFill>
                <a:latin typeface="Century Gothic"/>
              </a:rPr>
              <a:t>High Availability and Graceful Degradation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The goal isn't zero load-shedding — it's making sure that when something has to give, it's never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11680"/>
            <a:ext cx="1248156" cy="868680"/>
          </a:xfrm>
          <a:prstGeom prst="round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11680"/>
            <a:ext cx="115671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Incoming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916" y="201168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8508" y="2011680"/>
            <a:ext cx="1248156" cy="86868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4228" y="2011680"/>
            <a:ext cx="115671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Virtual Waiting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Room (token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01168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91256" y="2011680"/>
            <a:ext cx="1248156" cy="86868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6976" y="2011680"/>
            <a:ext cx="115671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Rate-Limited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9412" y="201168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4004" y="2011680"/>
            <a:ext cx="1248156" cy="86868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9724" y="2011680"/>
            <a:ext cx="115671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Checkout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(protected)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0175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Users past capacity wait in a queue with a visible position/ETA instead of hammering a struggling backend — the same pattern large retailers use on drop days.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03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7F5B"/>
                </a:solidFill>
                <a:latin typeface="Century Gothic"/>
              </a:rPr>
              <a:t>Other HA Measures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Multi-AZ redundancy:  </a:t>
            </a:r>
            <a:r>
              <a:rPr sz="1150" i="1">
                <a:solidFill>
                  <a:srgbClr val="22222A"/>
                </a:solidFill>
                <a:latin typeface="Segoe UI"/>
              </a:rPr>
              <a:t>no single data-center failure takes the platform down.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Circuit breakers,  </a:t>
            </a:r>
            <a:r>
              <a:rPr sz="1150" i="1">
                <a:solidFill>
                  <a:srgbClr val="22222A"/>
                </a:solidFill>
                <a:latin typeface="Segoe UI"/>
              </a:rPr>
              <a:t>so one failing dependency (e.g. recommendations service) can't cascade into checkout.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4198"/>
                </a:solidFill>
                <a:latin typeface="Century Gothic"/>
              </a:rPr>
              <a:t>Graceful Degradation Ladder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23160"/>
            <a:ext cx="1554480" cy="77724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First to 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423160"/>
            <a:ext cx="3794760" cy="77724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423160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Recommendations, reviews, "related products" — non-critical, cache-safe to disable.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337560"/>
            <a:ext cx="1554480" cy="777240"/>
          </a:xfrm>
          <a:prstGeom prst="roundRect">
            <a:avLst/>
          </a:prstGeom>
          <a:solidFill>
            <a:srgbClr val="465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37560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Second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3337560"/>
            <a:ext cx="3794760" cy="77724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337560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Search relevance ranking falls back to simple/cached results.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251960"/>
            <a:ext cx="1554480" cy="777240"/>
          </a:xfrm>
          <a:prstGeom prst="roundRect">
            <a:avLst/>
          </a:prstGeom>
          <a:solidFill>
            <a:srgbClr val="B3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51960"/>
            <a:ext cx="1371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Never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4251960"/>
            <a:ext cx="3794760" cy="77724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251960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Checkout, payment, and order confirmation — protected above all else.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120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472"/>
                </a:solidFill>
                <a:latin typeface="Segoe UI"/>
              </a:rPr>
              <a:t>Feature flags make each tier a single toggle, tested during load-test game days (Slide 7) so no one is deciding this live under pressure.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FLASHKART — THE BLACK FRIDAY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4. SECURITY &amp;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0B2447"/>
                </a:solidFill>
                <a:latin typeface="Century Gothic"/>
              </a:rPr>
              <a:t>Protecting Customer Data and Money Under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A high-traffic sale is also the highest-value day of the year for an attacker — security and reliability are the same workstream here, not two.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7F5B"/>
                </a:solidFill>
                <a:latin typeface="Century Gothic"/>
              </a:rPr>
              <a:t>Fixing Duplicate Orders &amp; Failed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Idempotency keys  </a:t>
            </a:r>
            <a:r>
              <a:rPr sz="1200" i="1">
                <a:solidFill>
                  <a:srgbClr val="22222A"/>
                </a:solidFill>
                <a:latin typeface="Segoe UI"/>
              </a:rPr>
              <a:t>on every order/payment request — a retried click resolves to the same order, never a duplicate.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E06A1F"/>
                </a:solidFill>
                <a:latin typeface="Segoe UI"/>
              </a:rPr>
              <a:t>●  </a:t>
            </a:r>
            <a:r>
              <a:rPr sz="1200" b="1" i="1">
                <a:solidFill>
                  <a:srgbClr val="0B2447"/>
                </a:solidFill>
                <a:latin typeface="Segoe UI"/>
              </a:rPr>
              <a:t>Multi-provider payment failover:  </a:t>
            </a:r>
            <a:r>
              <a:rPr sz="1200" i="1">
                <a:solidFill>
                  <a:srgbClr val="22222A"/>
                </a:solidFill>
                <a:latin typeface="Segoe UI"/>
              </a:rPr>
              <a:t>if the primary gateway times out, retry through a secondary provider instead of failing the sale outright.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43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7F5B"/>
                </a:solidFill>
                <a:latin typeface="Century Gothic"/>
              </a:rPr>
              <a:t>Protecting Customer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5488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Tokenized payments (PCI-DSS scope):  </a:t>
            </a:r>
            <a:r>
              <a:rPr sz="1150" i="1">
                <a:solidFill>
                  <a:srgbClr val="22222A"/>
                </a:solidFill>
                <a:latin typeface="Segoe UI"/>
              </a:rPr>
              <a:t>card data never touches FlashKart's own servers — handled by the payment processor's vault.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WAF + DDoS protection at the edge,  </a:t>
            </a:r>
            <a:r>
              <a:rPr sz="1150" i="1">
                <a:solidFill>
                  <a:srgbClr val="22222A"/>
                </a:solidFill>
                <a:latin typeface="Segoe UI"/>
              </a:rPr>
              <a:t>since a high-profile sale is a bigger target on the one day it can least afford downtime.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4198"/>
                </a:solidFill>
                <a:latin typeface="Century Gothic"/>
              </a:rPr>
              <a:t>Protecting Inventory From Bots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423160"/>
            <a:ext cx="5486400" cy="35661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22222A"/>
                </a:solidFill>
                <a:latin typeface="Segoe UI"/>
              </a:rPr>
              <a:t>Scalper bots checking out high-demand items faster than real customers is a security problem that shows up as a customer-trust problem — real users see "sold out" seconds after launch and blame the platform, not the bots. Rate limiting per account/IP and basic bot-detection heuristics on the checkout endpoint (paired with the waiting-room queue from Slide 4) keep the sale fair, which is as much a reliability measure for customer trust as it is a security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FLASHKART — THE BLACK FRIDAY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5. MONITORING &amp; INCIDENT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0B2447"/>
                </a:solidFill>
                <a:latin typeface="Century Gothic"/>
              </a:rPr>
              <a:t>If It Crashes Anyway, Here's What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"It cannot fail again" also means: if it does degrade, the team's response is rehearsed, not improvised.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57400"/>
            <a:ext cx="1767840" cy="86868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Real-Time</a:t>
            </a:r>
          </a:p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20574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8192" y="2057400"/>
            <a:ext cx="1767840" cy="86868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3912" y="2057400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Alert Fires</a:t>
            </a:r>
          </a:p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(threshold breach)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6032" y="20574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0624" y="2057400"/>
            <a:ext cx="1767840" cy="868680"/>
          </a:xfrm>
          <a:prstGeom prst="round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6344" y="2057400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On-Call +</a:t>
            </a:r>
          </a:p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Incident Commander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0574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057400"/>
            <a:ext cx="1767840" cy="868680"/>
          </a:xfrm>
          <a:prstGeom prst="roundRect">
            <a:avLst/>
          </a:prstGeom>
          <a:solidFill>
            <a:srgbClr val="B3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2057400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Runbook: Kill</a:t>
            </a:r>
          </a:p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Switch / 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0896" y="20574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5488" y="2057400"/>
            <a:ext cx="1767840" cy="868680"/>
          </a:xfrm>
          <a:prstGeom prst="round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1208" y="2057400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Status Page</a:t>
            </a:r>
          </a:p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Updated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3328" y="2057400"/>
            <a:ext cx="1645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7920" y="2057400"/>
            <a:ext cx="1767840" cy="86868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3640" y="2057400"/>
            <a:ext cx="167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Postmortem →</a:t>
            </a:r>
          </a:p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Fix Root Cause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7F5B"/>
                </a:solidFill>
                <a:latin typeface="Century Gothic"/>
              </a:rPr>
              <a:t>What's Being Watched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65760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Error rate &amp; p95/p99 latency  </a:t>
            </a:r>
            <a:r>
              <a:rPr sz="1150" i="1">
                <a:solidFill>
                  <a:srgbClr val="22222A"/>
                </a:solidFill>
                <a:latin typeface="Segoe UI"/>
              </a:rPr>
              <a:t>per service — the earliest signal something's degrading.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Payment success rate  </a:t>
            </a:r>
            <a:r>
              <a:rPr sz="1150" i="1">
                <a:solidFill>
                  <a:srgbClr val="22222A"/>
                </a:solidFill>
                <a:latin typeface="Segoe UI"/>
              </a:rPr>
              <a:t>and queue depth on the order-processing pipeline.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E06A1F"/>
                </a:solidFill>
                <a:latin typeface="Segoe UI"/>
              </a:rPr>
              <a:t>●  </a:t>
            </a:r>
            <a:r>
              <a:rPr sz="1150" b="1" i="1">
                <a:solidFill>
                  <a:srgbClr val="0B2447"/>
                </a:solidFill>
                <a:latin typeface="Segoe UI"/>
              </a:rPr>
              <a:t>Autoscaler activity,  </a:t>
            </a:r>
            <a:r>
              <a:rPr sz="1150" i="1">
                <a:solidFill>
                  <a:srgbClr val="22222A"/>
                </a:solidFill>
                <a:latin typeface="Segoe UI"/>
              </a:rPr>
              <a:t>so capacity additions are visible, not assumed.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4198"/>
                </a:solidFill>
                <a:latin typeface="Century Gothic"/>
              </a:rPr>
              <a:t>Roles, Defined Before Sale 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657600"/>
            <a:ext cx="5486400" cy="237744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94760"/>
            <a:ext cx="5120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22222A"/>
                </a:solidFill>
                <a:latin typeface="Segoe UI"/>
              </a:rPr>
              <a:t>Incident Commander (single decision-maker), subsystem leads for infra/payments/checkout, and a comms lead who owns the status page — assigned in advance, not volunteered live. Every degradation tier from Slide 4's ladder maps to a specific runbook step, so the team executes a checklist under pressure instead of debating options.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FLASHKART — THE BLACK FRIDAY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0B2447"/>
                </a:solidFill>
                <a:latin typeface="Century Gothic"/>
              </a:rPr>
              <a:t>The 3-Month Path to Sale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3611880" cy="502920"/>
          </a:xfrm>
          <a:prstGeom prst="round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entury Gothic"/>
              </a:rPr>
              <a:t>Month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3611880" cy="21945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19456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Redesign request path (caching, queue, autoscaling)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3464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Idempotency + payment failover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47472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Monitoring dashboards + alert thresholds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146304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463040"/>
            <a:ext cx="3611880" cy="502920"/>
          </a:xfrm>
          <a:prstGeom prst="round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46304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entury Gothic"/>
              </a:rPr>
              <a:t>Month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057400"/>
            <a:ext cx="3611880" cy="21945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219456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Load test at simulated 1M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83464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Chaos-engineering game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47472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rehearsing the incident runbook end to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46304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472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463040"/>
            <a:ext cx="3611880" cy="502920"/>
          </a:xfrm>
          <a:prstGeom prst="roundRect">
            <a:avLst/>
          </a:prstGeom>
          <a:solidFill>
            <a:srgbClr val="B3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46304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entury Gothic"/>
              </a:rPr>
              <a:t>Month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057400"/>
            <a:ext cx="3611880" cy="219456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Load test at 1.5x expected peak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3464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Feature freeze on non-critical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474720"/>
            <a:ext cx="32826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•  Go/no-go review with roles + kill switches confirmed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8056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4198"/>
                </a:solidFill>
                <a:latin typeface="Century Gothic"/>
              </a:rPr>
              <a:t>Budget Discipline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920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22222A"/>
                </a:solidFill>
                <a:latin typeface="Segoe UI"/>
              </a:rPr>
              <a:t>Every component above is a managed cloud service, not custom-built infrastructure — the fixed budget goes into engineering time on caching, queueing, and testing, not into standing up and operating new systems from scratch under a 3-month clock.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FLASHKART — THE BLACK FRIDAY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E8E8EC"/>
                </a:solidFill>
                <a:latin typeface="Segoe UI"/>
              </a:rPr>
              <a:t>CTO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gradFill rotWithShape="1">
            <a:gsLst>
              <a:gs pos="0">
                <a:srgbClr val="FF6501"/>
              </a:gs>
              <a:gs pos="100000">
                <a:srgbClr val="4658C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B2447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A1F"/>
                </a:solidFill>
                <a:latin typeface="Segoe UI"/>
              </a:rPr>
              <a:t>6. SUCCESS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0B2447"/>
                </a:solidFill>
                <a:latin typeface="Century Gothic"/>
              </a:rPr>
              <a:t>How We'll Know It Actually Worked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3794760" cy="14173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09728" cy="1417320"/>
          </a:xfrm>
          <a:prstGeom prst="rect">
            <a:avLst/>
          </a:prstGeom>
          <a:solidFill>
            <a:srgbClr val="1B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1848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Uptime during sale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Target: 99.9%+ — effectively zero customer-visible downtime.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794760" cy="14173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08760"/>
            <a:ext cx="109728" cy="1417320"/>
          </a:xfrm>
          <a:prstGeom prst="rect">
            <a:avLst/>
          </a:prstGeom>
          <a:solidFill>
            <a:srgbClr val="E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61848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p95 page load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1945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Target: under 2 seconds, even at peak concurrent 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508760"/>
            <a:ext cx="3794760" cy="14173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508760"/>
            <a:ext cx="109728" cy="1417320"/>
          </a:xfrm>
          <a:prstGeom prst="rect">
            <a:avLst/>
          </a:prstGeom>
          <a:solidFill>
            <a:srgbClr val="465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161848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Payment success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1945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Target: 99%+, with automatic failover absorbing gateway blips.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08960"/>
            <a:ext cx="3794760" cy="14173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108960"/>
            <a:ext cx="109728" cy="1417320"/>
          </a:xfrm>
          <a:prstGeom prst="rect">
            <a:avLst/>
          </a:prstGeom>
          <a:solidFill>
            <a:srgbClr val="B3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21868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Order duplication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7947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Target: ~0% — the direct proof idempotency worked.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108960"/>
            <a:ext cx="3794760" cy="14173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108960"/>
            <a:ext cx="109728" cy="1417320"/>
          </a:xfrm>
          <a:prstGeom prst="rect">
            <a:avLst/>
          </a:prstGeom>
          <a:solidFill>
            <a:srgbClr val="5E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21868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Autoscaling response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Time from traffic spike to added capacity online.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108960"/>
            <a:ext cx="3794760" cy="1417320"/>
          </a:xfrm>
          <a:prstGeom prst="rect">
            <a:avLst/>
          </a:prstGeom>
          <a:solidFill>
            <a:srgbClr val="F3F4F8"/>
          </a:solidFill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108960"/>
            <a:ext cx="109728" cy="14173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321868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2447"/>
                </a:solidFill>
                <a:latin typeface="Segoe UI"/>
              </a:rPr>
              <a:t>Mean time to recovery (MTTR)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37947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22222A"/>
                </a:solidFill>
                <a:latin typeface="Segoe UI"/>
              </a:rPr>
              <a:t>If an incident does occur, how fast the runbook resolves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892040"/>
            <a:ext cx="11430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22222A"/>
                </a:solidFill>
                <a:latin typeface="Segoe UI"/>
              </a:rPr>
              <a:t>Success isn't "nothing broke" — it's that every number above is visible in real time on sale day, so if something does start to degrade, it's caught and handled before a customer ever notices. That's what turns "the platform cannot fail again" from a mandate into an engineering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