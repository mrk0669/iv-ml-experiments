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entury Gothic"/>
              </a:rPr>
              <a:t>Sustainable Resource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10944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FF9A4D"/>
                </a:solidFill>
                <a:latin typeface="Segoe UI"/>
              </a:rPr>
              <a:t>A Technical Design Report — Condensed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Report Scope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User Experience &amp; IA  |  System Architecture  |  Technology Stack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Prepared By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Keshav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Submission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CTO Design Challenge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SUSTAINABLE RESOURCE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Technical Design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2447"/>
                </a:solidFill>
                <a:latin typeface="Century Gothic"/>
              </a:rPr>
              <a:t>Executive Summary &amp; Who Uses the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2222A"/>
                </a:solidFill>
                <a:latin typeface="Segoe UI"/>
              </a:rPr>
              <a:t>A B2B platform where businesses list, discover, and exchange surplus or reusable materials — turning waste liabilities into revenue while making the environmental impact of every transaction visible and auditable.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entury Gothic"/>
              </a:rPr>
              <a:t>Guiding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Trust is the product.  </a:t>
            </a:r>
            <a:r>
              <a:rPr sz="1250" i="1">
                <a:solidFill>
                  <a:srgbClr val="22222A"/>
                </a:solidFill>
                <a:latin typeface="Segoe UI"/>
              </a:rPr>
              <a:t>Verification, escrow, transparent metrics are core, not add-ons.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Sustainability data is first-class.  </a:t>
            </a:r>
            <a:r>
              <a:rPr sz="1250" i="1">
                <a:solidFill>
                  <a:srgbClr val="22222A"/>
                </a:solidFill>
                <a:latin typeface="Segoe UI"/>
              </a:rPr>
              <a:t>CO2e and waste-diverted computed on every listing.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Modular before distributed.  </a:t>
            </a:r>
            <a:r>
              <a:rPr sz="1250" i="1">
                <a:solidFill>
                  <a:srgbClr val="22222A"/>
                </a:solidFill>
                <a:latin typeface="Segoe UI"/>
              </a:rPr>
              <a:t>One deployable service, clear internal boundaries.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06A1F"/>
                </a:solidFill>
                <a:latin typeface="Segoe UI"/>
              </a:rPr>
              <a:t>●  </a:t>
            </a:r>
            <a:r>
              <a:rPr sz="1250" b="1" i="1">
                <a:solidFill>
                  <a:srgbClr val="0B2447"/>
                </a:solidFill>
                <a:latin typeface="Segoe UI"/>
              </a:rPr>
              <a:t>Buy commodity, build differentiation.  </a:t>
            </a:r>
            <a:r>
              <a:rPr sz="1250" i="1">
                <a:solidFill>
                  <a:srgbClr val="22222A"/>
                </a:solidFill>
                <a:latin typeface="Segoe UI"/>
              </a:rPr>
              <a:t>Payments/KYC bought; matching &amp; trust mechanics 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317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entury Gothic"/>
              </a:rPr>
              <a:t>Primary Personas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43200"/>
            <a:ext cx="5760720" cy="9144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81635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Supplier (Seller)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4553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Turns surplus/waste into revenue or documented impact.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794760"/>
            <a:ext cx="5760720" cy="9144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679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Buyer (Procurer)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9709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Sources verified, sustainable inputs and reports the impact.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846320"/>
            <a:ext cx="5760720" cy="9144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91947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Platform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24865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Keeps the marketplace safe: verification, moderation,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SUSTAINABLE RESOURCE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Technical Design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2447"/>
                </a:solidFill>
                <a:latin typeface="Century Gothic"/>
              </a:rPr>
              <a:t>User Experience &amp; Information Architecture</a:t>
            </a:r>
          </a:p>
        </p:txBody>
      </p:sp>
      <p:pic>
        <p:nvPicPr>
          <p:cNvPr id="9" name="Picture 8" descr="diagram_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91" y="1371600"/>
            <a:ext cx="6895097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417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Core User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566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Discover -&gt; Browse &amp; filter -&gt; View listing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Send RFQ -&gt; Negotiate terms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Confirm &amp; pay into escrow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Shared fulfillment -&gt; logistics -&gt; receipt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Rate, review &amp; impact report generated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1148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UX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Impact metrics shown up front, not buried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Low-friction, pre-tagged listing wizard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i="1">
                <a:solidFill>
                  <a:srgbClr val="22222A"/>
                </a:solidFill>
                <a:latin typeface="Segoe UI"/>
              </a:rPr>
              <a:t>Trust signals on every card and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SUSTAINABLE RESOURCE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Technical Design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2447"/>
                </a:solidFill>
                <a:latin typeface="Century Gothic"/>
              </a:rPr>
              <a:t>System Architecture</a:t>
            </a:r>
          </a:p>
        </p:txBody>
      </p:sp>
      <p:pic>
        <p:nvPicPr>
          <p:cNvPr id="9" name="Picture 8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823" y="1371600"/>
            <a:ext cx="614387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SUSTAINABLE RESOURCE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Technical Design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2447"/>
                </a:solidFill>
                <a:latin typeface="Century Gothic"/>
              </a:rPr>
              <a:t>Technology Stack &amp; 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Recommended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830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Next.js + TypeScript,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860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Node.js (NestJS); Python/FastAPI for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788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WebSocket (Socket.IO)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Event 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291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Amazon EventBridge + SQS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947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947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PostgreSQL (RDS) + Redis + OpenSearch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Storage / 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976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S3 + CloudFront / Stripe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447"/>
                </a:solidFill>
                <a:latin typeface="Segoe UI"/>
              </a:rP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800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AWS ECS on Fargate, Terraform, GitHub Actions</a:t>
            </a:r>
          </a:p>
        </p:txBody>
      </p:sp>
      <p:pic>
        <p:nvPicPr>
          <p:cNvPr id="24" name="Picture 23" descr="diagram_data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3849"/>
            <a:ext cx="5760720" cy="39361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SUSTAINABLE RESOURCE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Technical Design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2447"/>
                </a:solidFill>
                <a:latin typeface="Century Gothic"/>
              </a:rPr>
              <a:t>Roadmap &amp; Key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Phased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486400" cy="1051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A1F"/>
                </a:solidFill>
                <a:latin typeface="Century Gothic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Web app, core marketplace, Stripe payments, manual logistics.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486400" cy="1051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A1F"/>
                </a:solidFill>
                <a:latin typeface="Century Gothic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Mobile app, automated carrier APIs, recommendation engine.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5486400" cy="1051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A1F"/>
                </a:solidFill>
                <a:latin typeface="Century Gothic"/>
              </a:rPr>
              <a:t>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Enterprise ERP integrations, marketplace-wide sustainability intel.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7F5B"/>
                </a:solidFill>
                <a:latin typeface="Century Gothic"/>
              </a:rPr>
              <a:t>Key Trade-offs &amp;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Modular monolith,  </a:t>
            </a:r>
            <a:r>
              <a:rPr sz="1200" i="1">
                <a:solidFill>
                  <a:srgbClr val="22222A"/>
                </a:solidFill>
                <a:latin typeface="Segoe UI"/>
              </a:rPr>
              <a:t>not microservices at launch, for engineering velocity.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Logistics is orchestration,  </a:t>
            </a:r>
            <a:r>
              <a:rPr sz="1200" i="1">
                <a:solidFill>
                  <a:srgbClr val="22222A"/>
                </a:solidFill>
                <a:latin typeface="Segoe UI"/>
              </a:rPr>
              <a:t>not owned trucks/warehouses.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Category-level conversion factors,  </a:t>
            </a:r>
            <a:r>
              <a:rPr sz="1200" i="1">
                <a:solidFill>
                  <a:srgbClr val="22222A"/>
                </a:solidFill>
                <a:latin typeface="Segoe UI"/>
              </a:rPr>
              <a:t>not per-item lifecycle assessment.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Monetization model,  </a:t>
            </a:r>
            <a:r>
              <a:rPr sz="1200" i="1">
                <a:solidFill>
                  <a:srgbClr val="22222A"/>
                </a:solidFill>
                <a:latin typeface="Segoe UI"/>
              </a:rPr>
              <a:t>commission/subscription compatible with Stripe Connect, left as a product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