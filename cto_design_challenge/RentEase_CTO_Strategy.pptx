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0175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017520"/>
            <a:ext cx="12191695" cy="91440"/>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748272"/>
            <a:ext cx="12191695" cy="109728"/>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777240"/>
            <a:ext cx="11094415" cy="914400"/>
          </a:xfrm>
          <a:prstGeom prst="rect">
            <a:avLst/>
          </a:prstGeom>
          <a:noFill/>
        </p:spPr>
        <p:txBody>
          <a:bodyPr wrap="square" anchor="ctr" lIns="0" rIns="0" tIns="0" bIns="0">
            <a:spAutoFit/>
          </a:bodyPr>
          <a:lstStyle/>
          <a:p>
            <a:pPr algn="ctr">
              <a:lnSpc>
                <a:spcPct val="100000"/>
              </a:lnSpc>
            </a:pPr>
            <a:r>
              <a:rPr sz="4400" b="1" i="0">
                <a:solidFill>
                  <a:srgbClr val="FFFFFF"/>
                </a:solidFill>
                <a:latin typeface="Century Gothic"/>
              </a:rPr>
              <a:t>Scaling RentEase</a:t>
            </a:r>
          </a:p>
        </p:txBody>
      </p:sp>
      <p:sp>
        <p:nvSpPr>
          <p:cNvPr id="7" name="TextBox 6"/>
          <p:cNvSpPr txBox="1"/>
          <p:nvPr/>
        </p:nvSpPr>
        <p:spPr>
          <a:xfrm>
            <a:off x="548640" y="1709928"/>
            <a:ext cx="11094415" cy="548640"/>
          </a:xfrm>
          <a:prstGeom prst="rect">
            <a:avLst/>
          </a:prstGeom>
          <a:noFill/>
        </p:spPr>
        <p:txBody>
          <a:bodyPr wrap="square" anchor="ctr" lIns="0" rIns="0" tIns="0" bIns="0">
            <a:spAutoFit/>
          </a:bodyPr>
          <a:lstStyle/>
          <a:p>
            <a:pPr algn="ctr">
              <a:lnSpc>
                <a:spcPct val="100000"/>
              </a:lnSpc>
            </a:pPr>
            <a:r>
              <a:rPr sz="1700" b="0" i="1">
                <a:solidFill>
                  <a:srgbClr val="FF9A4D"/>
                </a:solidFill>
                <a:latin typeface="Segoe UI"/>
              </a:rPr>
              <a:t>A Technology Strategy for Trusted, Capital-Efficient Growth</a:t>
            </a:r>
          </a:p>
        </p:txBody>
      </p:sp>
      <p:sp>
        <p:nvSpPr>
          <p:cNvPr id="8" name="TextBox 7"/>
          <p:cNvSpPr txBox="1"/>
          <p:nvPr/>
        </p:nvSpPr>
        <p:spPr>
          <a:xfrm>
            <a:off x="1097280" y="3840480"/>
            <a:ext cx="10058400" cy="411480"/>
          </a:xfrm>
          <a:prstGeom prst="rect">
            <a:avLst/>
          </a:prstGeom>
          <a:noFill/>
        </p:spPr>
        <p:txBody>
          <a:bodyPr wrap="square">
            <a:spAutoFit/>
          </a:bodyPr>
          <a:lstStyle/>
          <a:p>
            <a:r>
              <a:rPr b="1" sz="1500">
                <a:solidFill>
                  <a:srgbClr val="0B2447"/>
                </a:solidFill>
                <a:latin typeface="Segoe UI"/>
              </a:rPr>
              <a:t>Perspective :  </a:t>
            </a:r>
            <a:r>
              <a:rPr i="1" sz="1500">
                <a:solidFill>
                  <a:srgbClr val="22222A"/>
                </a:solidFill>
                <a:latin typeface="Segoe UI"/>
              </a:rPr>
              <a:t>Chief Technology Officer</a:t>
            </a:r>
          </a:p>
        </p:txBody>
      </p:sp>
      <p:sp>
        <p:nvSpPr>
          <p:cNvPr id="9" name="TextBox 8"/>
          <p:cNvSpPr txBox="1"/>
          <p:nvPr/>
        </p:nvSpPr>
        <p:spPr>
          <a:xfrm>
            <a:off x="1097280" y="4343400"/>
            <a:ext cx="10058400" cy="411480"/>
          </a:xfrm>
          <a:prstGeom prst="rect">
            <a:avLst/>
          </a:prstGeom>
          <a:noFill/>
        </p:spPr>
        <p:txBody>
          <a:bodyPr wrap="square">
            <a:spAutoFit/>
          </a:bodyPr>
          <a:lstStyle/>
          <a:p>
            <a:r>
              <a:rPr b="1" sz="1500">
                <a:solidFill>
                  <a:srgbClr val="0B2447"/>
                </a:solidFill>
                <a:latin typeface="Segoe UI"/>
              </a:rPr>
              <a:t>Prepared By :  </a:t>
            </a:r>
            <a:r>
              <a:rPr i="1" sz="1500">
                <a:solidFill>
                  <a:srgbClr val="22222A"/>
                </a:solidFill>
                <a:latin typeface="Segoe UI"/>
              </a:rPr>
              <a:t>Keshav</a:t>
            </a:r>
          </a:p>
        </p:txBody>
      </p:sp>
      <p:sp>
        <p:nvSpPr>
          <p:cNvPr id="10" name="TextBox 9"/>
          <p:cNvSpPr txBox="1"/>
          <p:nvPr/>
        </p:nvSpPr>
        <p:spPr>
          <a:xfrm>
            <a:off x="1097280" y="4846320"/>
            <a:ext cx="10058400" cy="411480"/>
          </a:xfrm>
          <a:prstGeom prst="rect">
            <a:avLst/>
          </a:prstGeom>
          <a:noFill/>
        </p:spPr>
        <p:txBody>
          <a:bodyPr wrap="square">
            <a:spAutoFit/>
          </a:bodyPr>
          <a:lstStyle/>
          <a:p>
            <a:r>
              <a:rPr b="1" sz="1500">
                <a:solidFill>
                  <a:srgbClr val="0B2447"/>
                </a:solidFill>
                <a:latin typeface="Segoe UI"/>
              </a:rPr>
              <a:t>Case :  </a:t>
            </a:r>
            <a:r>
              <a:rPr i="1" sz="1500">
                <a:solidFill>
                  <a:srgbClr val="22222A"/>
                </a:solidFill>
                <a:latin typeface="Segoe UI"/>
              </a:rPr>
              <a:t>RentEase Leadership Case Study — Scaling RentEase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6400800" cy="566928"/>
          </a:xfrm>
          <a:prstGeom prst="rect">
            <a:avLst/>
          </a:prstGeom>
          <a:noFill/>
        </p:spPr>
        <p:txBody>
          <a:bodyPr wrap="square" anchor="ctr" lIns="0" rIns="0" tIns="0" bIns="0">
            <a:spAutoFit/>
          </a:bodyPr>
          <a:lstStyle/>
          <a:p>
            <a:pPr algn="l">
              <a:lnSpc>
                <a:spcPct val="100000"/>
              </a:lnSpc>
            </a:pPr>
            <a:r>
              <a:rPr sz="1300" b="1" i="0">
                <a:solidFill>
                  <a:srgbClr val="FFFFFF"/>
                </a:solidFill>
                <a:latin typeface="Segoe UI"/>
              </a:rPr>
              <a:t>RENTEASE — SCALING STRATEGY</a:t>
            </a:r>
          </a:p>
        </p:txBody>
      </p:sp>
      <p:sp>
        <p:nvSpPr>
          <p:cNvPr id="4" name="TextBox 3"/>
          <p:cNvSpPr txBox="1"/>
          <p:nvPr/>
        </p:nvSpPr>
        <p:spPr>
          <a:xfrm>
            <a:off x="8168335" y="0"/>
            <a:ext cx="3657600" cy="566928"/>
          </a:xfrm>
          <a:prstGeom prst="rect">
            <a:avLst/>
          </a:prstGeom>
          <a:noFill/>
        </p:spPr>
        <p:txBody>
          <a:bodyPr wrap="square" anchor="ctr" lIns="0" rIns="0" tIns="0" bIns="0">
            <a:spAutoFit/>
          </a:bodyPr>
          <a:lstStyle/>
          <a:p>
            <a:pPr algn="r">
              <a:lnSpc>
                <a:spcPct val="100000"/>
              </a:lnSpc>
            </a:pPr>
            <a:r>
              <a:rPr sz="1200" b="0" i="1">
                <a:solidFill>
                  <a:srgbClr val="E8E8EC"/>
                </a:solidFill>
                <a:latin typeface="Segoe UI"/>
              </a:rPr>
              <a:t>CTO Case Study Response</a:t>
            </a:r>
          </a:p>
        </p:txBody>
      </p:sp>
      <p:sp>
        <p:nvSpPr>
          <p:cNvPr id="5" name="Rectangle 4"/>
          <p:cNvSpPr/>
          <p:nvPr/>
        </p:nvSpPr>
        <p:spPr>
          <a:xfrm>
            <a:off x="0" y="566928"/>
            <a:ext cx="12191695" cy="54864"/>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75704"/>
            <a:ext cx="12191695" cy="82296"/>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77295" y="6473952"/>
            <a:ext cx="640080" cy="274320"/>
          </a:xfrm>
          <a:prstGeom prst="rect">
            <a:avLst/>
          </a:prstGeom>
          <a:noFill/>
        </p:spPr>
        <p:txBody>
          <a:bodyPr wrap="square" anchor="t" lIns="0" rIns="0" tIns="0" bIns="0">
            <a:spAutoFit/>
          </a:bodyPr>
          <a:lstStyle/>
          <a:p>
            <a:pPr algn="r">
              <a:lnSpc>
                <a:spcPct val="100000"/>
              </a:lnSpc>
            </a:pPr>
            <a:r>
              <a:rPr sz="1100" b="1" i="0">
                <a:solidFill>
                  <a:srgbClr val="0B2447"/>
                </a:solidFill>
                <a:latin typeface="Segoe UI"/>
              </a:rPr>
              <a:t>2</a:t>
            </a:r>
          </a:p>
        </p:txBody>
      </p:sp>
      <p:sp>
        <p:nvSpPr>
          <p:cNvPr id="8" name="TextBox 7"/>
          <p:cNvSpPr txBox="1"/>
          <p:nvPr/>
        </p:nvSpPr>
        <p:spPr>
          <a:xfrm>
            <a:off x="365760" y="658368"/>
            <a:ext cx="10515600" cy="274320"/>
          </a:xfrm>
          <a:prstGeom prst="rect">
            <a:avLst/>
          </a:prstGeom>
          <a:noFill/>
        </p:spPr>
        <p:txBody>
          <a:bodyPr wrap="square" anchor="t" lIns="0" rIns="0" tIns="0" bIns="0">
            <a:spAutoFit/>
          </a:bodyPr>
          <a:lstStyle/>
          <a:p>
            <a:pPr algn="l">
              <a:lnSpc>
                <a:spcPct val="100000"/>
              </a:lnSpc>
            </a:pPr>
            <a:r>
              <a:rPr sz="1150" b="1" i="0">
                <a:solidFill>
                  <a:srgbClr val="E06A1F"/>
                </a:solidFill>
                <a:latin typeface="Segoe UI"/>
              </a:rPr>
              <a:t>FRAMING</a:t>
            </a:r>
          </a:p>
        </p:txBody>
      </p:sp>
      <p:sp>
        <p:nvSpPr>
          <p:cNvPr id="9" name="TextBox 8"/>
          <p:cNvSpPr txBox="1"/>
          <p:nvPr/>
        </p:nvSpPr>
        <p:spPr>
          <a:xfrm>
            <a:off x="365760" y="914400"/>
            <a:ext cx="11430000" cy="502920"/>
          </a:xfrm>
          <a:prstGeom prst="rect">
            <a:avLst/>
          </a:prstGeom>
          <a:noFill/>
        </p:spPr>
        <p:txBody>
          <a:bodyPr wrap="square" anchor="t" lIns="0" rIns="0" tIns="0" bIns="0">
            <a:spAutoFit/>
          </a:bodyPr>
          <a:lstStyle/>
          <a:p>
            <a:pPr algn="l">
              <a:lnSpc>
                <a:spcPct val="100000"/>
              </a:lnSpc>
            </a:pPr>
            <a:r>
              <a:rPr sz="2300" b="1" i="0">
                <a:solidFill>
                  <a:srgbClr val="0B2447"/>
                </a:solidFill>
                <a:latin typeface="Century Gothic"/>
              </a:rPr>
              <a:t>The Two Challenges That Are Actually a Tech Problem</a:t>
            </a:r>
          </a:p>
        </p:txBody>
      </p:sp>
      <p:sp>
        <p:nvSpPr>
          <p:cNvPr id="10" name="TextBox 9"/>
          <p:cNvSpPr txBox="1"/>
          <p:nvPr/>
        </p:nvSpPr>
        <p:spPr>
          <a:xfrm>
            <a:off x="365760" y="1371600"/>
            <a:ext cx="11430000" cy="548640"/>
          </a:xfrm>
          <a:prstGeom prst="rect">
            <a:avLst/>
          </a:prstGeom>
          <a:noFill/>
        </p:spPr>
        <p:txBody>
          <a:bodyPr wrap="square" anchor="t" lIns="0" rIns="0" tIns="0" bIns="0">
            <a:spAutoFit/>
          </a:bodyPr>
          <a:lstStyle/>
          <a:p>
            <a:pPr algn="l">
              <a:lnSpc>
                <a:spcPct val="115000"/>
              </a:lnSpc>
            </a:pPr>
            <a:r>
              <a:rPr sz="1300" b="0" i="1">
                <a:solidFill>
                  <a:srgbClr val="22222A"/>
                </a:solidFill>
                <a:latin typeface="Segoe UI"/>
              </a:rPr>
              <a:t>Six challenges are on the table. Only two are mine to fix directly — the rest are pricing, marketing, or capital-strategy calls that technology can support but not own.</a:t>
            </a:r>
          </a:p>
        </p:txBody>
      </p:sp>
      <p:sp>
        <p:nvSpPr>
          <p:cNvPr id="11" name="Rounded Rectangle 10"/>
          <p:cNvSpPr/>
          <p:nvPr/>
        </p:nvSpPr>
        <p:spPr>
          <a:xfrm>
            <a:off x="365760" y="2103120"/>
            <a:ext cx="5486400" cy="777240"/>
          </a:xfrm>
          <a:prstGeom prst="roundRect">
            <a:avLst/>
          </a:prstGeom>
          <a:solidFill>
            <a:srgbClr val="1B7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103120"/>
            <a:ext cx="5120640" cy="777240"/>
          </a:xfrm>
          <a:prstGeom prst="rect">
            <a:avLst/>
          </a:prstGeom>
          <a:noFill/>
        </p:spPr>
        <p:txBody>
          <a:bodyPr wrap="square" anchor="ctr" lIns="0" rIns="0" tIns="0" bIns="0">
            <a:spAutoFit/>
          </a:bodyPr>
          <a:lstStyle/>
          <a:p>
            <a:pPr algn="l">
              <a:lnSpc>
                <a:spcPct val="105000"/>
              </a:lnSpc>
            </a:pPr>
            <a:r>
              <a:rPr sz="1600" b="1" i="0">
                <a:solidFill>
                  <a:srgbClr val="FFFFFF"/>
                </a:solidFill>
                <a:latin typeface="Century Gothic"/>
              </a:rPr>
              <a:t>Damage, Loss &amp;</a:t>
            </a:r>
          </a:p>
          <a:p>
            <a:pPr algn="l">
              <a:lnSpc>
                <a:spcPct val="105000"/>
              </a:lnSpc>
            </a:pPr>
            <a:r>
              <a:rPr sz="1600" b="1" i="0">
                <a:solidFill>
                  <a:srgbClr val="FFFFFF"/>
                </a:solidFill>
                <a:latin typeface="Century Gothic"/>
              </a:rPr>
              <a:t>Early Returns</a:t>
            </a:r>
          </a:p>
        </p:txBody>
      </p:sp>
      <p:sp>
        <p:nvSpPr>
          <p:cNvPr id="13" name="Rectangle 12"/>
          <p:cNvSpPr/>
          <p:nvPr/>
        </p:nvSpPr>
        <p:spPr>
          <a:xfrm>
            <a:off x="365760" y="2971800"/>
            <a:ext cx="5486400" cy="1371600"/>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108960"/>
            <a:ext cx="5120640" cy="1097280"/>
          </a:xfrm>
          <a:prstGeom prst="rect">
            <a:avLst/>
          </a:prstGeom>
          <a:noFill/>
        </p:spPr>
        <p:txBody>
          <a:bodyPr wrap="square" anchor="t" lIns="0" rIns="0" tIns="0" bIns="0">
            <a:spAutoFit/>
          </a:bodyPr>
          <a:lstStyle/>
          <a:p>
            <a:pPr algn="l">
              <a:lnSpc>
                <a:spcPct val="120000"/>
              </a:lnSpc>
            </a:pPr>
            <a:r>
              <a:rPr sz="1200" b="0" i="1">
                <a:solidFill>
                  <a:srgbClr val="22222A"/>
                </a:solidFill>
                <a:latin typeface="Segoe UI"/>
              </a:rPr>
              <a:t>Every damaged, lost, or early-returned item is margin leaking out of the business with no system catching it early or assigning responsibility fairly.</a:t>
            </a:r>
          </a:p>
        </p:txBody>
      </p:sp>
      <p:sp>
        <p:nvSpPr>
          <p:cNvPr id="15" name="Rounded Rectangle 14"/>
          <p:cNvSpPr/>
          <p:nvPr/>
        </p:nvSpPr>
        <p:spPr>
          <a:xfrm>
            <a:off x="6309360" y="2103120"/>
            <a:ext cx="5486400" cy="777240"/>
          </a:xfrm>
          <a:prstGeom prst="roundRect">
            <a:avLst/>
          </a:prstGeom>
          <a:solidFill>
            <a:srgbClr val="E06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2103120"/>
            <a:ext cx="5120640" cy="777240"/>
          </a:xfrm>
          <a:prstGeom prst="rect">
            <a:avLst/>
          </a:prstGeom>
          <a:noFill/>
        </p:spPr>
        <p:txBody>
          <a:bodyPr wrap="square" anchor="ctr" lIns="0" rIns="0" tIns="0" bIns="0">
            <a:spAutoFit/>
          </a:bodyPr>
          <a:lstStyle/>
          <a:p>
            <a:pPr algn="l">
              <a:lnSpc>
                <a:spcPct val="105000"/>
              </a:lnSpc>
            </a:pPr>
            <a:r>
              <a:rPr sz="1600" b="1" i="0">
                <a:solidFill>
                  <a:srgbClr val="FFFFFF"/>
                </a:solidFill>
                <a:latin typeface="Century Gothic"/>
              </a:rPr>
              <a:t>Rising Delivery,</a:t>
            </a:r>
          </a:p>
          <a:p>
            <a:pPr algn="l">
              <a:lnSpc>
                <a:spcPct val="105000"/>
              </a:lnSpc>
            </a:pPr>
            <a:r>
              <a:rPr sz="1600" b="1" i="0">
                <a:solidFill>
                  <a:srgbClr val="FFFFFF"/>
                </a:solidFill>
                <a:latin typeface="Century Gothic"/>
              </a:rPr>
              <a:t>Maintenance &amp; Repair Cost</a:t>
            </a:r>
          </a:p>
        </p:txBody>
      </p:sp>
      <p:sp>
        <p:nvSpPr>
          <p:cNvPr id="17" name="Rectangle 16"/>
          <p:cNvSpPr/>
          <p:nvPr/>
        </p:nvSpPr>
        <p:spPr>
          <a:xfrm>
            <a:off x="6309360" y="2971800"/>
            <a:ext cx="5486400" cy="1371600"/>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3108960"/>
            <a:ext cx="5120640" cy="1097280"/>
          </a:xfrm>
          <a:prstGeom prst="rect">
            <a:avLst/>
          </a:prstGeom>
          <a:noFill/>
        </p:spPr>
        <p:txBody>
          <a:bodyPr wrap="square" anchor="t" lIns="0" rIns="0" tIns="0" bIns="0">
            <a:spAutoFit/>
          </a:bodyPr>
          <a:lstStyle/>
          <a:p>
            <a:pPr algn="l">
              <a:lnSpc>
                <a:spcPct val="120000"/>
              </a:lnSpc>
            </a:pPr>
            <a:r>
              <a:rPr sz="1200" b="0" i="1">
                <a:solidFill>
                  <a:srgbClr val="22222A"/>
                </a:solidFill>
                <a:latin typeface="Segoe UI"/>
              </a:rPr>
              <a:t>Cost-per-order for logistics and upkeep is climbing with volume instead of falling — the sign of an operation running on manual coordination, not a system.</a:t>
            </a:r>
          </a:p>
        </p:txBody>
      </p:sp>
      <p:sp>
        <p:nvSpPr>
          <p:cNvPr id="19" name="TextBox 18"/>
          <p:cNvSpPr txBox="1"/>
          <p:nvPr/>
        </p:nvSpPr>
        <p:spPr>
          <a:xfrm>
            <a:off x="365760" y="4572000"/>
            <a:ext cx="11430000" cy="320040"/>
          </a:xfrm>
          <a:prstGeom prst="rect">
            <a:avLst/>
          </a:prstGeom>
          <a:noFill/>
        </p:spPr>
        <p:txBody>
          <a:bodyPr wrap="square" anchor="t" lIns="0" rIns="0" tIns="0" bIns="0">
            <a:spAutoFit/>
          </a:bodyPr>
          <a:lstStyle/>
          <a:p>
            <a:pPr algn="l">
              <a:lnSpc>
                <a:spcPct val="100000"/>
              </a:lnSpc>
            </a:pPr>
            <a:r>
              <a:rPr sz="1500" b="1" i="0">
                <a:solidFill>
                  <a:srgbClr val="5E4198"/>
                </a:solidFill>
                <a:latin typeface="Century Gothic"/>
              </a:rPr>
              <a:t>Working Assumptions</a:t>
            </a:r>
          </a:p>
        </p:txBody>
      </p:sp>
      <p:sp>
        <p:nvSpPr>
          <p:cNvPr id="20" name="TextBox 19"/>
          <p:cNvSpPr txBox="1"/>
          <p:nvPr/>
        </p:nvSpPr>
        <p:spPr>
          <a:xfrm>
            <a:off x="365760" y="4983480"/>
            <a:ext cx="11430000" cy="1463040"/>
          </a:xfrm>
          <a:prstGeom prst="rect">
            <a:avLst/>
          </a:prstGeom>
          <a:noFill/>
        </p:spPr>
        <p:txBody>
          <a:bodyPr wrap="square" lIns="0" rIns="0" tIns="0" bIns="0">
            <a:spAutoFit/>
          </a:bodyPr>
          <a:lstStyle/>
          <a:p>
            <a:pPr>
              <a:lnSpc>
                <a:spcPct val="105000"/>
              </a:lnSpc>
              <a:spcAft>
                <a:spcPts val="800"/>
              </a:spcAft>
            </a:pPr>
            <a:r>
              <a:rPr sz="1250">
                <a:solidFill>
                  <a:srgbClr val="E06A1F"/>
                </a:solidFill>
                <a:latin typeface="Segoe UI"/>
              </a:rPr>
              <a:t>●  </a:t>
            </a:r>
            <a:r>
              <a:rPr sz="1250" b="1" i="1">
                <a:solidFill>
                  <a:srgbClr val="0B2447"/>
                </a:solidFill>
                <a:latin typeface="Segoe UI"/>
              </a:rPr>
              <a:t>Current state:  </a:t>
            </a:r>
            <a:r>
              <a:rPr sz="1250" i="1">
                <a:solidFill>
                  <a:srgbClr val="22222A"/>
                </a:solidFill>
                <a:latin typeface="Segoe UI"/>
              </a:rPr>
              <a:t>2 cities, 25,000+ users — inventory and delivery are likely coordinated manually or with basic tooling, not a purpose-built ops platform.</a:t>
            </a:r>
          </a:p>
          <a:p>
            <a:pPr>
              <a:lnSpc>
                <a:spcPct val="105000"/>
              </a:lnSpc>
              <a:spcAft>
                <a:spcPts val="800"/>
              </a:spcAft>
            </a:pPr>
            <a:r>
              <a:rPr sz="1250">
                <a:solidFill>
                  <a:srgbClr val="E06A1F"/>
                </a:solidFill>
                <a:latin typeface="Segoe UI"/>
              </a:rPr>
              <a:t>●  </a:t>
            </a:r>
            <a:r>
              <a:rPr sz="1250" b="1" i="1">
                <a:solidFill>
                  <a:srgbClr val="0B2447"/>
                </a:solidFill>
                <a:latin typeface="Segoe UI"/>
              </a:rPr>
              <a:t>Scale target:  </a:t>
            </a:r>
            <a:r>
              <a:rPr sz="1250" i="1">
                <a:solidFill>
                  <a:srgbClr val="22222A"/>
                </a:solidFill>
                <a:latin typeface="Segoe UI"/>
              </a:rPr>
              <a:t>multi-city national expansion, meaning every manual process today becomes a linear cost driver tomorrow unless it's systematized first.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6400800" cy="566928"/>
          </a:xfrm>
          <a:prstGeom prst="rect">
            <a:avLst/>
          </a:prstGeom>
          <a:noFill/>
        </p:spPr>
        <p:txBody>
          <a:bodyPr wrap="square" anchor="ctr" lIns="0" rIns="0" tIns="0" bIns="0">
            <a:spAutoFit/>
          </a:bodyPr>
          <a:lstStyle/>
          <a:p>
            <a:pPr algn="l">
              <a:lnSpc>
                <a:spcPct val="100000"/>
              </a:lnSpc>
            </a:pPr>
            <a:r>
              <a:rPr sz="1300" b="1" i="0">
                <a:solidFill>
                  <a:srgbClr val="FFFFFF"/>
                </a:solidFill>
                <a:latin typeface="Segoe UI"/>
              </a:rPr>
              <a:t>RENTEASE — SCALING STRATEGY</a:t>
            </a:r>
          </a:p>
        </p:txBody>
      </p:sp>
      <p:sp>
        <p:nvSpPr>
          <p:cNvPr id="4" name="TextBox 3"/>
          <p:cNvSpPr txBox="1"/>
          <p:nvPr/>
        </p:nvSpPr>
        <p:spPr>
          <a:xfrm>
            <a:off x="8168335" y="0"/>
            <a:ext cx="3657600" cy="566928"/>
          </a:xfrm>
          <a:prstGeom prst="rect">
            <a:avLst/>
          </a:prstGeom>
          <a:noFill/>
        </p:spPr>
        <p:txBody>
          <a:bodyPr wrap="square" anchor="ctr" lIns="0" rIns="0" tIns="0" bIns="0">
            <a:spAutoFit/>
          </a:bodyPr>
          <a:lstStyle/>
          <a:p>
            <a:pPr algn="r">
              <a:lnSpc>
                <a:spcPct val="100000"/>
              </a:lnSpc>
            </a:pPr>
            <a:r>
              <a:rPr sz="1200" b="0" i="1">
                <a:solidFill>
                  <a:srgbClr val="E8E8EC"/>
                </a:solidFill>
                <a:latin typeface="Segoe UI"/>
              </a:rPr>
              <a:t>CTO Case Study Response</a:t>
            </a:r>
          </a:p>
        </p:txBody>
      </p:sp>
      <p:sp>
        <p:nvSpPr>
          <p:cNvPr id="5" name="Rectangle 4"/>
          <p:cNvSpPr/>
          <p:nvPr/>
        </p:nvSpPr>
        <p:spPr>
          <a:xfrm>
            <a:off x="0" y="566928"/>
            <a:ext cx="12191695" cy="54864"/>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75704"/>
            <a:ext cx="12191695" cy="82296"/>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77295" y="6473952"/>
            <a:ext cx="640080" cy="274320"/>
          </a:xfrm>
          <a:prstGeom prst="rect">
            <a:avLst/>
          </a:prstGeom>
          <a:noFill/>
        </p:spPr>
        <p:txBody>
          <a:bodyPr wrap="square" anchor="t" lIns="0" rIns="0" tIns="0" bIns="0">
            <a:spAutoFit/>
          </a:bodyPr>
          <a:lstStyle/>
          <a:p>
            <a:pPr algn="r">
              <a:lnSpc>
                <a:spcPct val="100000"/>
              </a:lnSpc>
            </a:pPr>
            <a:r>
              <a:rPr sz="1100" b="1" i="0">
                <a:solidFill>
                  <a:srgbClr val="0B2447"/>
                </a:solidFill>
                <a:latin typeface="Segoe UI"/>
              </a:rPr>
              <a:t>3</a:t>
            </a:r>
          </a:p>
        </p:txBody>
      </p:sp>
      <p:sp>
        <p:nvSpPr>
          <p:cNvPr id="8" name="TextBox 7"/>
          <p:cNvSpPr txBox="1"/>
          <p:nvPr/>
        </p:nvSpPr>
        <p:spPr>
          <a:xfrm>
            <a:off x="365760" y="658368"/>
            <a:ext cx="10515600" cy="274320"/>
          </a:xfrm>
          <a:prstGeom prst="rect">
            <a:avLst/>
          </a:prstGeom>
          <a:noFill/>
        </p:spPr>
        <p:txBody>
          <a:bodyPr wrap="square" anchor="t" lIns="0" rIns="0" tIns="0" bIns="0">
            <a:spAutoFit/>
          </a:bodyPr>
          <a:lstStyle/>
          <a:p>
            <a:pPr algn="l">
              <a:lnSpc>
                <a:spcPct val="100000"/>
              </a:lnSpc>
            </a:pPr>
            <a:r>
              <a:rPr sz="1150" b="1" i="0">
                <a:solidFill>
                  <a:srgbClr val="E06A1F"/>
                </a:solidFill>
                <a:latin typeface="Segoe UI"/>
              </a:rPr>
              <a:t>STRATEGIC RECOMMENDATION</a:t>
            </a:r>
          </a:p>
        </p:txBody>
      </p:sp>
      <p:sp>
        <p:nvSpPr>
          <p:cNvPr id="9" name="TextBox 8"/>
          <p:cNvSpPr txBox="1"/>
          <p:nvPr/>
        </p:nvSpPr>
        <p:spPr>
          <a:xfrm>
            <a:off x="365760" y="914400"/>
            <a:ext cx="11430000" cy="502920"/>
          </a:xfrm>
          <a:prstGeom prst="rect">
            <a:avLst/>
          </a:prstGeom>
          <a:noFill/>
        </p:spPr>
        <p:txBody>
          <a:bodyPr wrap="square" anchor="t" lIns="0" rIns="0" tIns="0" bIns="0">
            <a:spAutoFit/>
          </a:bodyPr>
          <a:lstStyle/>
          <a:p>
            <a:pPr algn="l">
              <a:lnSpc>
                <a:spcPct val="100000"/>
              </a:lnSpc>
            </a:pPr>
            <a:r>
              <a:rPr sz="2300" b="1" i="0">
                <a:solidFill>
                  <a:srgbClr val="0B2447"/>
                </a:solidFill>
                <a:latin typeface="Century Gothic"/>
              </a:rPr>
              <a:t>Build “RentOS”: The Platform Before the Cities</a:t>
            </a:r>
          </a:p>
        </p:txBody>
      </p:sp>
      <p:sp>
        <p:nvSpPr>
          <p:cNvPr id="10" name="TextBox 9"/>
          <p:cNvSpPr txBox="1"/>
          <p:nvPr/>
        </p:nvSpPr>
        <p:spPr>
          <a:xfrm>
            <a:off x="365760" y="1371600"/>
            <a:ext cx="11430000" cy="502920"/>
          </a:xfrm>
          <a:prstGeom prst="rect">
            <a:avLst/>
          </a:prstGeom>
          <a:noFill/>
        </p:spPr>
        <p:txBody>
          <a:bodyPr wrap="square" anchor="t" lIns="0" rIns="0" tIns="0" bIns="0">
            <a:spAutoFit/>
          </a:bodyPr>
          <a:lstStyle/>
          <a:p>
            <a:pPr algn="l">
              <a:lnSpc>
                <a:spcPct val="115000"/>
              </a:lnSpc>
            </a:pPr>
            <a:r>
              <a:rPr sz="1300" b="0" i="1">
                <a:solidFill>
                  <a:srgbClr val="22222A"/>
                </a:solidFill>
                <a:latin typeface="Segoe UI"/>
              </a:rPr>
              <a:t>One recommendation, not five: before spending on a third or fourth city, build the internal platform that makes every future city cheaper to run than the last one.</a:t>
            </a:r>
          </a:p>
        </p:txBody>
      </p:sp>
      <p:sp>
        <p:nvSpPr>
          <p:cNvPr id="11" name="Rounded Rectangle 10"/>
          <p:cNvSpPr/>
          <p:nvPr/>
        </p:nvSpPr>
        <p:spPr>
          <a:xfrm>
            <a:off x="365760" y="2103120"/>
            <a:ext cx="2139696" cy="914400"/>
          </a:xfrm>
          <a:prstGeom prst="round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 y="2103120"/>
            <a:ext cx="2029968" cy="914400"/>
          </a:xfrm>
          <a:prstGeom prst="rect">
            <a:avLst/>
          </a:prstGeom>
          <a:noFill/>
        </p:spPr>
        <p:txBody>
          <a:bodyPr wrap="square" anchor="ctr" lIns="0" rIns="0" tIns="0" bIns="0">
            <a:spAutoFit/>
          </a:bodyPr>
          <a:lstStyle/>
          <a:p>
            <a:pPr algn="ctr">
              <a:lnSpc>
                <a:spcPct val="105000"/>
              </a:lnSpc>
            </a:pPr>
            <a:r>
              <a:rPr sz="1150" b="1" i="0">
                <a:solidFill>
                  <a:srgbClr val="FFFFFF"/>
                </a:solidFill>
                <a:latin typeface="Segoe UI"/>
              </a:rPr>
              <a:t>Asset Tags</a:t>
            </a:r>
          </a:p>
          <a:p>
            <a:pPr algn="ctr">
              <a:lnSpc>
                <a:spcPct val="105000"/>
              </a:lnSpc>
            </a:pPr>
            <a:r>
              <a:rPr sz="1150" b="1" i="0">
                <a:solidFill>
                  <a:srgbClr val="FFFFFF"/>
                </a:solidFill>
                <a:latin typeface="Segoe UI"/>
              </a:rPr>
              <a:t>(QR / RFID)</a:t>
            </a:r>
          </a:p>
        </p:txBody>
      </p:sp>
      <p:sp>
        <p:nvSpPr>
          <p:cNvPr id="13" name="TextBox 12"/>
          <p:cNvSpPr txBox="1"/>
          <p:nvPr/>
        </p:nvSpPr>
        <p:spPr>
          <a:xfrm>
            <a:off x="2505456" y="2103120"/>
            <a:ext cx="182880" cy="914400"/>
          </a:xfrm>
          <a:prstGeom prst="rect">
            <a:avLst/>
          </a:prstGeom>
          <a:noFill/>
        </p:spPr>
        <p:txBody>
          <a:bodyPr wrap="square" anchor="ctr" lIns="0" rIns="0" tIns="0" bIns="0">
            <a:spAutoFit/>
          </a:bodyPr>
          <a:lstStyle/>
          <a:p>
            <a:pPr algn="ctr">
              <a:lnSpc>
                <a:spcPct val="100000"/>
              </a:lnSpc>
            </a:pPr>
            <a:r>
              <a:rPr sz="1800" b="1" i="0">
                <a:solidFill>
                  <a:srgbClr val="5B6472"/>
                </a:solidFill>
                <a:latin typeface="Segoe UI"/>
              </a:rPr>
              <a:t>→</a:t>
            </a:r>
          </a:p>
        </p:txBody>
      </p:sp>
      <p:sp>
        <p:nvSpPr>
          <p:cNvPr id="14" name="Rounded Rectangle 13"/>
          <p:cNvSpPr/>
          <p:nvPr/>
        </p:nvSpPr>
        <p:spPr>
          <a:xfrm>
            <a:off x="2688336" y="2103120"/>
            <a:ext cx="2139696" cy="914400"/>
          </a:xfrm>
          <a:prstGeom prst="roundRect">
            <a:avLst/>
          </a:prstGeom>
          <a:solidFill>
            <a:srgbClr val="1B7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0" y="2103120"/>
            <a:ext cx="2029968" cy="914400"/>
          </a:xfrm>
          <a:prstGeom prst="rect">
            <a:avLst/>
          </a:prstGeom>
          <a:noFill/>
        </p:spPr>
        <p:txBody>
          <a:bodyPr wrap="square" anchor="ctr" lIns="0" rIns="0" tIns="0" bIns="0">
            <a:spAutoFit/>
          </a:bodyPr>
          <a:lstStyle/>
          <a:p>
            <a:pPr algn="ctr">
              <a:lnSpc>
                <a:spcPct val="105000"/>
              </a:lnSpc>
            </a:pPr>
            <a:r>
              <a:rPr sz="1150" b="1" i="0">
                <a:solidFill>
                  <a:srgbClr val="FFFFFF"/>
                </a:solidFill>
                <a:latin typeface="Segoe UI"/>
              </a:rPr>
              <a:t>Condition Capture</a:t>
            </a:r>
          </a:p>
          <a:p>
            <a:pPr algn="ctr">
              <a:lnSpc>
                <a:spcPct val="105000"/>
              </a:lnSpc>
            </a:pPr>
            <a:r>
              <a:rPr sz="1150" b="1" i="0">
                <a:solidFill>
                  <a:srgbClr val="FFFFFF"/>
                </a:solidFill>
                <a:latin typeface="Segoe UI"/>
              </a:rPr>
              <a:t>(photo + CV score)</a:t>
            </a:r>
          </a:p>
        </p:txBody>
      </p:sp>
      <p:sp>
        <p:nvSpPr>
          <p:cNvPr id="16" name="TextBox 15"/>
          <p:cNvSpPr txBox="1"/>
          <p:nvPr/>
        </p:nvSpPr>
        <p:spPr>
          <a:xfrm>
            <a:off x="4828032" y="2103120"/>
            <a:ext cx="182880" cy="914400"/>
          </a:xfrm>
          <a:prstGeom prst="rect">
            <a:avLst/>
          </a:prstGeom>
          <a:noFill/>
        </p:spPr>
        <p:txBody>
          <a:bodyPr wrap="square" anchor="ctr" lIns="0" rIns="0" tIns="0" bIns="0">
            <a:spAutoFit/>
          </a:bodyPr>
          <a:lstStyle/>
          <a:p>
            <a:pPr algn="ctr">
              <a:lnSpc>
                <a:spcPct val="100000"/>
              </a:lnSpc>
            </a:pPr>
            <a:r>
              <a:rPr sz="1800" b="1" i="0">
                <a:solidFill>
                  <a:srgbClr val="5B6472"/>
                </a:solidFill>
                <a:latin typeface="Segoe UI"/>
              </a:rPr>
              <a:t>→</a:t>
            </a:r>
          </a:p>
        </p:txBody>
      </p:sp>
      <p:sp>
        <p:nvSpPr>
          <p:cNvPr id="17" name="Rounded Rectangle 16"/>
          <p:cNvSpPr/>
          <p:nvPr/>
        </p:nvSpPr>
        <p:spPr>
          <a:xfrm>
            <a:off x="5010912" y="2103120"/>
            <a:ext cx="2139696" cy="914400"/>
          </a:xfrm>
          <a:prstGeom prst="roundRect">
            <a:avLst/>
          </a:prstGeom>
          <a:solidFill>
            <a:srgbClr val="E06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65776" y="2103120"/>
            <a:ext cx="2029968" cy="914400"/>
          </a:xfrm>
          <a:prstGeom prst="rect">
            <a:avLst/>
          </a:prstGeom>
          <a:noFill/>
        </p:spPr>
        <p:txBody>
          <a:bodyPr wrap="square" anchor="ctr" lIns="0" rIns="0" tIns="0" bIns="0">
            <a:spAutoFit/>
          </a:bodyPr>
          <a:lstStyle/>
          <a:p>
            <a:pPr algn="ctr">
              <a:lnSpc>
                <a:spcPct val="105000"/>
              </a:lnSpc>
            </a:pPr>
            <a:r>
              <a:rPr sz="1150" b="1" i="0">
                <a:solidFill>
                  <a:srgbClr val="FFFFFF"/>
                </a:solidFill>
                <a:latin typeface="Segoe UI"/>
              </a:rPr>
              <a:t>Inventory &amp;</a:t>
            </a:r>
          </a:p>
          <a:p>
            <a:pPr algn="ctr">
              <a:lnSpc>
                <a:spcPct val="105000"/>
              </a:lnSpc>
            </a:pPr>
            <a:r>
              <a:rPr sz="1150" b="1" i="0">
                <a:solidFill>
                  <a:srgbClr val="FFFFFF"/>
                </a:solidFill>
                <a:latin typeface="Segoe UI"/>
              </a:rPr>
              <a:t>Routing Engine</a:t>
            </a:r>
          </a:p>
        </p:txBody>
      </p:sp>
      <p:sp>
        <p:nvSpPr>
          <p:cNvPr id="19" name="TextBox 18"/>
          <p:cNvSpPr txBox="1"/>
          <p:nvPr/>
        </p:nvSpPr>
        <p:spPr>
          <a:xfrm>
            <a:off x="7150608" y="2103120"/>
            <a:ext cx="182880" cy="914400"/>
          </a:xfrm>
          <a:prstGeom prst="rect">
            <a:avLst/>
          </a:prstGeom>
          <a:noFill/>
        </p:spPr>
        <p:txBody>
          <a:bodyPr wrap="square" anchor="ctr" lIns="0" rIns="0" tIns="0" bIns="0">
            <a:spAutoFit/>
          </a:bodyPr>
          <a:lstStyle/>
          <a:p>
            <a:pPr algn="ctr">
              <a:lnSpc>
                <a:spcPct val="100000"/>
              </a:lnSpc>
            </a:pPr>
            <a:r>
              <a:rPr sz="1800" b="1" i="0">
                <a:solidFill>
                  <a:srgbClr val="5B6472"/>
                </a:solidFill>
                <a:latin typeface="Segoe UI"/>
              </a:rPr>
              <a:t>→</a:t>
            </a:r>
          </a:p>
        </p:txBody>
      </p:sp>
      <p:sp>
        <p:nvSpPr>
          <p:cNvPr id="20" name="Rounded Rectangle 19"/>
          <p:cNvSpPr/>
          <p:nvPr/>
        </p:nvSpPr>
        <p:spPr>
          <a:xfrm>
            <a:off x="7333488" y="2103120"/>
            <a:ext cx="2139696" cy="914400"/>
          </a:xfrm>
          <a:prstGeom prst="roundRect">
            <a:avLst/>
          </a:prstGeom>
          <a:solidFill>
            <a:srgbClr val="E06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88352" y="2103120"/>
            <a:ext cx="2029968" cy="914400"/>
          </a:xfrm>
          <a:prstGeom prst="rect">
            <a:avLst/>
          </a:prstGeom>
          <a:noFill/>
        </p:spPr>
        <p:txBody>
          <a:bodyPr wrap="square" anchor="ctr" lIns="0" rIns="0" tIns="0" bIns="0">
            <a:spAutoFit/>
          </a:bodyPr>
          <a:lstStyle/>
          <a:p>
            <a:pPr algn="ctr">
              <a:lnSpc>
                <a:spcPct val="105000"/>
              </a:lnSpc>
            </a:pPr>
            <a:r>
              <a:rPr sz="1150" b="1" i="0">
                <a:solidFill>
                  <a:srgbClr val="FFFFFF"/>
                </a:solidFill>
                <a:latin typeface="Segoe UI"/>
              </a:rPr>
              <a:t>Predictive</a:t>
            </a:r>
          </a:p>
          <a:p>
            <a:pPr algn="ctr">
              <a:lnSpc>
                <a:spcPct val="105000"/>
              </a:lnSpc>
            </a:pPr>
            <a:r>
              <a:rPr sz="1150" b="1" i="0">
                <a:solidFill>
                  <a:srgbClr val="FFFFFF"/>
                </a:solidFill>
                <a:latin typeface="Segoe UI"/>
              </a:rPr>
              <a:t>Maintenance</a:t>
            </a:r>
          </a:p>
        </p:txBody>
      </p:sp>
      <p:sp>
        <p:nvSpPr>
          <p:cNvPr id="22" name="TextBox 21"/>
          <p:cNvSpPr txBox="1"/>
          <p:nvPr/>
        </p:nvSpPr>
        <p:spPr>
          <a:xfrm>
            <a:off x="9473184" y="2103120"/>
            <a:ext cx="182880" cy="914400"/>
          </a:xfrm>
          <a:prstGeom prst="rect">
            <a:avLst/>
          </a:prstGeom>
          <a:noFill/>
        </p:spPr>
        <p:txBody>
          <a:bodyPr wrap="square" anchor="ctr" lIns="0" rIns="0" tIns="0" bIns="0">
            <a:spAutoFit/>
          </a:bodyPr>
          <a:lstStyle/>
          <a:p>
            <a:pPr algn="ctr">
              <a:lnSpc>
                <a:spcPct val="100000"/>
              </a:lnSpc>
            </a:pPr>
            <a:r>
              <a:rPr sz="1800" b="1" i="0">
                <a:solidFill>
                  <a:srgbClr val="5B6472"/>
                </a:solidFill>
                <a:latin typeface="Segoe UI"/>
              </a:rPr>
              <a:t>→</a:t>
            </a:r>
          </a:p>
        </p:txBody>
      </p:sp>
      <p:sp>
        <p:nvSpPr>
          <p:cNvPr id="23" name="Rounded Rectangle 22"/>
          <p:cNvSpPr/>
          <p:nvPr/>
        </p:nvSpPr>
        <p:spPr>
          <a:xfrm>
            <a:off x="9656064" y="2103120"/>
            <a:ext cx="2139696" cy="914400"/>
          </a:xfrm>
          <a:prstGeom prst="roundRect">
            <a:avLst/>
          </a:prstGeom>
          <a:solidFill>
            <a:srgbClr val="5E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10928" y="2103120"/>
            <a:ext cx="2029968" cy="914400"/>
          </a:xfrm>
          <a:prstGeom prst="rect">
            <a:avLst/>
          </a:prstGeom>
          <a:noFill/>
        </p:spPr>
        <p:txBody>
          <a:bodyPr wrap="square" anchor="ctr" lIns="0" rIns="0" tIns="0" bIns="0">
            <a:spAutoFit/>
          </a:bodyPr>
          <a:lstStyle/>
          <a:p>
            <a:pPr algn="ctr">
              <a:lnSpc>
                <a:spcPct val="105000"/>
              </a:lnSpc>
            </a:pPr>
            <a:r>
              <a:rPr sz="1150" b="1" i="0">
                <a:solidFill>
                  <a:srgbClr val="FFFFFF"/>
                </a:solidFill>
                <a:latin typeface="Segoe UI"/>
              </a:rPr>
              <a:t>Expansion</a:t>
            </a:r>
          </a:p>
          <a:p>
            <a:pPr algn="ctr">
              <a:lnSpc>
                <a:spcPct val="105000"/>
              </a:lnSpc>
            </a:pPr>
            <a:r>
              <a:rPr sz="1150" b="1" i="0">
                <a:solidFill>
                  <a:srgbClr val="FFFFFF"/>
                </a:solidFill>
                <a:latin typeface="Segoe UI"/>
              </a:rPr>
              <a:t>Analytics</a:t>
            </a:r>
          </a:p>
        </p:txBody>
      </p:sp>
      <p:sp>
        <p:nvSpPr>
          <p:cNvPr id="25" name="TextBox 24"/>
          <p:cNvSpPr txBox="1"/>
          <p:nvPr/>
        </p:nvSpPr>
        <p:spPr>
          <a:xfrm>
            <a:off x="365760" y="3246120"/>
            <a:ext cx="5486400" cy="320040"/>
          </a:xfrm>
          <a:prstGeom prst="rect">
            <a:avLst/>
          </a:prstGeom>
          <a:noFill/>
        </p:spPr>
        <p:txBody>
          <a:bodyPr wrap="square" anchor="t" lIns="0" rIns="0" tIns="0" bIns="0">
            <a:spAutoFit/>
          </a:bodyPr>
          <a:lstStyle/>
          <a:p>
            <a:pPr algn="l">
              <a:lnSpc>
                <a:spcPct val="100000"/>
              </a:lnSpc>
            </a:pPr>
            <a:r>
              <a:rPr sz="1400" b="1" i="0">
                <a:solidFill>
                  <a:srgbClr val="1B7F5B"/>
                </a:solidFill>
                <a:latin typeface="Century Gothic"/>
              </a:rPr>
              <a:t>Why a Platform, Not a Feature List</a:t>
            </a:r>
          </a:p>
        </p:txBody>
      </p:sp>
      <p:sp>
        <p:nvSpPr>
          <p:cNvPr id="26" name="TextBox 25"/>
          <p:cNvSpPr txBox="1"/>
          <p:nvPr/>
        </p:nvSpPr>
        <p:spPr>
          <a:xfrm>
            <a:off x="365760" y="3657600"/>
            <a:ext cx="5486400" cy="2743200"/>
          </a:xfrm>
          <a:prstGeom prst="rect">
            <a:avLst/>
          </a:prstGeom>
          <a:noFill/>
        </p:spPr>
        <p:txBody>
          <a:bodyPr wrap="square" lIns="0" rIns="0" tIns="0" bIns="0">
            <a:spAutoFit/>
          </a:bodyPr>
          <a:lstStyle/>
          <a:p>
            <a:pPr>
              <a:lnSpc>
                <a:spcPct val="105000"/>
              </a:lnSpc>
              <a:spcAft>
                <a:spcPts val="800"/>
              </a:spcAft>
            </a:pPr>
            <a:r>
              <a:rPr sz="1200">
                <a:solidFill>
                  <a:srgbClr val="E06A1F"/>
                </a:solidFill>
                <a:latin typeface="Segoe UI"/>
              </a:rPr>
              <a:t>●  </a:t>
            </a:r>
            <a:r>
              <a:rPr sz="1200" b="1" i="1">
                <a:solidFill>
                  <a:srgbClr val="0B2447"/>
                </a:solidFill>
                <a:latin typeface="Segoe UI"/>
              </a:rPr>
              <a:t>Every layer is reusable  </a:t>
            </a:r>
            <a:r>
              <a:rPr sz="1200" i="1">
                <a:solidFill>
                  <a:srgbClr val="22222A"/>
                </a:solidFill>
                <a:latin typeface="Segoe UI"/>
              </a:rPr>
              <a:t>across every new city — the marginal tech cost of city #5 is near zero once RentOS exists.</a:t>
            </a:r>
          </a:p>
          <a:p>
            <a:pPr>
              <a:lnSpc>
                <a:spcPct val="105000"/>
              </a:lnSpc>
              <a:spcAft>
                <a:spcPts val="800"/>
              </a:spcAft>
            </a:pPr>
            <a:r>
              <a:rPr sz="1200">
                <a:solidFill>
                  <a:srgbClr val="E06A1F"/>
                </a:solidFill>
                <a:latin typeface="Segoe UI"/>
              </a:rPr>
              <a:t>●  </a:t>
            </a:r>
            <a:r>
              <a:rPr sz="1200" b="1" i="1">
                <a:solidFill>
                  <a:srgbClr val="0B2447"/>
                </a:solidFill>
                <a:latin typeface="Segoe UI"/>
              </a:rPr>
              <a:t>Each layer targets one challenge:  </a:t>
            </a:r>
            <a:r>
              <a:rPr sz="1200" i="1">
                <a:solidFill>
                  <a:srgbClr val="22222A"/>
                </a:solidFill>
                <a:latin typeface="Segoe UI"/>
              </a:rPr>
              <a:t>tags + capture fix damage/loss; routing + maintenance fix rising cost per order.</a:t>
            </a:r>
          </a:p>
          <a:p>
            <a:pPr>
              <a:lnSpc>
                <a:spcPct val="105000"/>
              </a:lnSpc>
              <a:spcAft>
                <a:spcPts val="800"/>
              </a:spcAft>
            </a:pPr>
            <a:r>
              <a:rPr sz="1200">
                <a:solidFill>
                  <a:srgbClr val="E06A1F"/>
                </a:solidFill>
                <a:latin typeface="Segoe UI"/>
              </a:rPr>
              <a:t>●  </a:t>
            </a:r>
            <a:r>
              <a:rPr sz="1200" b="1" i="1">
                <a:solidFill>
                  <a:srgbClr val="0B2447"/>
                </a:solidFill>
                <a:latin typeface="Segoe UI"/>
              </a:rPr>
              <a:t>It's sequenced, not simultaneous:  </a:t>
            </a:r>
            <a:r>
              <a:rPr sz="1200" i="1">
                <a:solidFill>
                  <a:srgbClr val="22222A"/>
                </a:solidFill>
                <a:latin typeface="Segoe UI"/>
              </a:rPr>
              <a:t>tags and capture ship first because they generate the data the other layers depend on.</a:t>
            </a:r>
          </a:p>
        </p:txBody>
      </p:sp>
      <p:sp>
        <p:nvSpPr>
          <p:cNvPr id="27" name="Rectangle 26"/>
          <p:cNvSpPr/>
          <p:nvPr/>
        </p:nvSpPr>
        <p:spPr>
          <a:xfrm>
            <a:off x="6309360" y="3246120"/>
            <a:ext cx="5486400" cy="3154680"/>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0" y="3383280"/>
            <a:ext cx="5120640" cy="274320"/>
          </a:xfrm>
          <a:prstGeom prst="rect">
            <a:avLst/>
          </a:prstGeom>
          <a:noFill/>
        </p:spPr>
        <p:txBody>
          <a:bodyPr wrap="square" anchor="t" lIns="0" rIns="0" tIns="0" bIns="0">
            <a:spAutoFit/>
          </a:bodyPr>
          <a:lstStyle/>
          <a:p>
            <a:pPr algn="l">
              <a:lnSpc>
                <a:spcPct val="100000"/>
              </a:lnSpc>
            </a:pPr>
            <a:r>
              <a:rPr sz="1350" b="1" i="0">
                <a:solidFill>
                  <a:srgbClr val="5E4198"/>
                </a:solidFill>
                <a:latin typeface="Century Gothic"/>
              </a:rPr>
              <a:t>The Pitch, in One Line</a:t>
            </a:r>
          </a:p>
        </p:txBody>
      </p:sp>
      <p:sp>
        <p:nvSpPr>
          <p:cNvPr id="29" name="TextBox 28"/>
          <p:cNvSpPr txBox="1"/>
          <p:nvPr/>
        </p:nvSpPr>
        <p:spPr>
          <a:xfrm>
            <a:off x="6492240" y="3749039"/>
            <a:ext cx="5120640" cy="2468880"/>
          </a:xfrm>
          <a:prstGeom prst="rect">
            <a:avLst/>
          </a:prstGeom>
          <a:noFill/>
        </p:spPr>
        <p:txBody>
          <a:bodyPr wrap="square" anchor="t" lIns="0" rIns="0" tIns="0" bIns="0">
            <a:spAutoFit/>
          </a:bodyPr>
          <a:lstStyle/>
          <a:p>
            <a:pPr algn="l">
              <a:lnSpc>
                <a:spcPct val="125000"/>
              </a:lnSpc>
            </a:pPr>
            <a:r>
              <a:rPr sz="1250" b="0" i="1">
                <a:solidFill>
                  <a:srgbClr val="22222A"/>
                </a:solidFill>
                <a:latin typeface="Segoe UI"/>
              </a:rPr>
              <a:t>RentEase doesn't need to outspend Ikea or Amazon on warehouses to win rental — it needs to know, better than they ever will, exactly what condition every item is in and exactly when it will next fail. That knowledge is what RentOS is built to capture, and it compounds with every rental RentEase completes.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6400800" cy="566928"/>
          </a:xfrm>
          <a:prstGeom prst="rect">
            <a:avLst/>
          </a:prstGeom>
          <a:noFill/>
        </p:spPr>
        <p:txBody>
          <a:bodyPr wrap="square" anchor="ctr" lIns="0" rIns="0" tIns="0" bIns="0">
            <a:spAutoFit/>
          </a:bodyPr>
          <a:lstStyle/>
          <a:p>
            <a:pPr algn="l">
              <a:lnSpc>
                <a:spcPct val="100000"/>
              </a:lnSpc>
            </a:pPr>
            <a:r>
              <a:rPr sz="1300" b="1" i="0">
                <a:solidFill>
                  <a:srgbClr val="FFFFFF"/>
                </a:solidFill>
                <a:latin typeface="Segoe UI"/>
              </a:rPr>
              <a:t>RENTEASE — SCALING STRATEGY</a:t>
            </a:r>
          </a:p>
        </p:txBody>
      </p:sp>
      <p:sp>
        <p:nvSpPr>
          <p:cNvPr id="4" name="TextBox 3"/>
          <p:cNvSpPr txBox="1"/>
          <p:nvPr/>
        </p:nvSpPr>
        <p:spPr>
          <a:xfrm>
            <a:off x="8168335" y="0"/>
            <a:ext cx="3657600" cy="566928"/>
          </a:xfrm>
          <a:prstGeom prst="rect">
            <a:avLst/>
          </a:prstGeom>
          <a:noFill/>
        </p:spPr>
        <p:txBody>
          <a:bodyPr wrap="square" anchor="ctr" lIns="0" rIns="0" tIns="0" bIns="0">
            <a:spAutoFit/>
          </a:bodyPr>
          <a:lstStyle/>
          <a:p>
            <a:pPr algn="r">
              <a:lnSpc>
                <a:spcPct val="100000"/>
              </a:lnSpc>
            </a:pPr>
            <a:r>
              <a:rPr sz="1200" b="0" i="1">
                <a:solidFill>
                  <a:srgbClr val="E8E8EC"/>
                </a:solidFill>
                <a:latin typeface="Segoe UI"/>
              </a:rPr>
              <a:t>CTO Case Study Response</a:t>
            </a:r>
          </a:p>
        </p:txBody>
      </p:sp>
      <p:sp>
        <p:nvSpPr>
          <p:cNvPr id="5" name="Rectangle 4"/>
          <p:cNvSpPr/>
          <p:nvPr/>
        </p:nvSpPr>
        <p:spPr>
          <a:xfrm>
            <a:off x="0" y="566928"/>
            <a:ext cx="12191695" cy="54864"/>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75704"/>
            <a:ext cx="12191695" cy="82296"/>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77295" y="6473952"/>
            <a:ext cx="640080" cy="274320"/>
          </a:xfrm>
          <a:prstGeom prst="rect">
            <a:avLst/>
          </a:prstGeom>
          <a:noFill/>
        </p:spPr>
        <p:txBody>
          <a:bodyPr wrap="square" anchor="t" lIns="0" rIns="0" tIns="0" bIns="0">
            <a:spAutoFit/>
          </a:bodyPr>
          <a:lstStyle/>
          <a:p>
            <a:pPr algn="r">
              <a:lnSpc>
                <a:spcPct val="100000"/>
              </a:lnSpc>
            </a:pPr>
            <a:r>
              <a:rPr sz="1100" b="1" i="0">
                <a:solidFill>
                  <a:srgbClr val="0B2447"/>
                </a:solidFill>
                <a:latin typeface="Segoe UI"/>
              </a:rPr>
              <a:t>4</a:t>
            </a:r>
          </a:p>
        </p:txBody>
      </p:sp>
      <p:sp>
        <p:nvSpPr>
          <p:cNvPr id="8" name="TextBox 7"/>
          <p:cNvSpPr txBox="1"/>
          <p:nvPr/>
        </p:nvSpPr>
        <p:spPr>
          <a:xfrm>
            <a:off x="365760" y="658368"/>
            <a:ext cx="10515600" cy="274320"/>
          </a:xfrm>
          <a:prstGeom prst="rect">
            <a:avLst/>
          </a:prstGeom>
          <a:noFill/>
        </p:spPr>
        <p:txBody>
          <a:bodyPr wrap="square" anchor="t" lIns="0" rIns="0" tIns="0" bIns="0">
            <a:spAutoFit/>
          </a:bodyPr>
          <a:lstStyle/>
          <a:p>
            <a:pPr algn="l">
              <a:lnSpc>
                <a:spcPct val="100000"/>
              </a:lnSpc>
            </a:pPr>
            <a:r>
              <a:rPr sz="1150" b="1" i="0">
                <a:solidFill>
                  <a:srgbClr val="E06A1F"/>
                </a:solidFill>
                <a:latin typeface="Segoe UI"/>
              </a:rPr>
              <a:t>FIX #1</a:t>
            </a:r>
          </a:p>
        </p:txBody>
      </p:sp>
      <p:sp>
        <p:nvSpPr>
          <p:cNvPr id="9" name="TextBox 8"/>
          <p:cNvSpPr txBox="1"/>
          <p:nvPr/>
        </p:nvSpPr>
        <p:spPr>
          <a:xfrm>
            <a:off x="365760" y="914400"/>
            <a:ext cx="11430000" cy="502920"/>
          </a:xfrm>
          <a:prstGeom prst="rect">
            <a:avLst/>
          </a:prstGeom>
          <a:noFill/>
        </p:spPr>
        <p:txBody>
          <a:bodyPr wrap="square" anchor="t" lIns="0" rIns="0" tIns="0" bIns="0">
            <a:spAutoFit/>
          </a:bodyPr>
          <a:lstStyle/>
          <a:p>
            <a:pPr algn="l">
              <a:lnSpc>
                <a:spcPct val="100000"/>
              </a:lnSpc>
            </a:pPr>
            <a:r>
              <a:rPr sz="2300" b="1" i="0">
                <a:solidFill>
                  <a:srgbClr val="0B2447"/>
                </a:solidFill>
                <a:latin typeface="Century Gothic"/>
              </a:rPr>
              <a:t>Closing the Damage, Loss &amp; Early-Return Gap</a:t>
            </a:r>
          </a:p>
        </p:txBody>
      </p:sp>
      <p:sp>
        <p:nvSpPr>
          <p:cNvPr id="10" name="TextBox 9"/>
          <p:cNvSpPr txBox="1"/>
          <p:nvPr/>
        </p:nvSpPr>
        <p:spPr>
          <a:xfrm>
            <a:off x="365760" y="1371600"/>
            <a:ext cx="11430000" cy="457200"/>
          </a:xfrm>
          <a:prstGeom prst="rect">
            <a:avLst/>
          </a:prstGeom>
          <a:noFill/>
        </p:spPr>
        <p:txBody>
          <a:bodyPr wrap="square" anchor="t" lIns="0" rIns="0" tIns="0" bIns="0">
            <a:spAutoFit/>
          </a:bodyPr>
          <a:lstStyle/>
          <a:p>
            <a:pPr algn="l">
              <a:lnSpc>
                <a:spcPct val="100000"/>
              </a:lnSpc>
            </a:pPr>
            <a:r>
              <a:rPr sz="1300" b="0" i="1">
                <a:solidFill>
                  <a:srgbClr val="22222A"/>
                </a:solidFill>
                <a:latin typeface="Segoe UI"/>
              </a:rPr>
              <a:t>Today, a disputed damage claim is one person's word against another's. The fix is to make condition a timestamped fact, not a memory.</a:t>
            </a:r>
          </a:p>
        </p:txBody>
      </p:sp>
      <p:sp>
        <p:nvSpPr>
          <p:cNvPr id="11" name="Rounded Rectangle 10"/>
          <p:cNvSpPr/>
          <p:nvPr/>
        </p:nvSpPr>
        <p:spPr>
          <a:xfrm>
            <a:off x="365760" y="1965960"/>
            <a:ext cx="2139696" cy="914400"/>
          </a:xfrm>
          <a:prstGeom prst="round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 y="1965960"/>
            <a:ext cx="2029968" cy="914400"/>
          </a:xfrm>
          <a:prstGeom prst="rect">
            <a:avLst/>
          </a:prstGeom>
          <a:noFill/>
        </p:spPr>
        <p:txBody>
          <a:bodyPr wrap="square" anchor="ctr" lIns="0" rIns="0" tIns="0" bIns="0">
            <a:spAutoFit/>
          </a:bodyPr>
          <a:lstStyle/>
          <a:p>
            <a:pPr algn="ctr">
              <a:lnSpc>
                <a:spcPct val="105000"/>
              </a:lnSpc>
            </a:pPr>
            <a:r>
              <a:rPr sz="1100" b="1" i="0">
                <a:solidFill>
                  <a:srgbClr val="FFFFFF"/>
                </a:solidFill>
                <a:latin typeface="Segoe UI"/>
              </a:rPr>
              <a:t>Scan-out at</a:t>
            </a:r>
          </a:p>
          <a:p>
            <a:pPr algn="ctr">
              <a:lnSpc>
                <a:spcPct val="105000"/>
              </a:lnSpc>
            </a:pPr>
            <a:r>
              <a:rPr sz="1100" b="1" i="0">
                <a:solidFill>
                  <a:srgbClr val="FFFFFF"/>
                </a:solidFill>
                <a:latin typeface="Segoe UI"/>
              </a:rPr>
              <a:t>pickup</a:t>
            </a:r>
          </a:p>
        </p:txBody>
      </p:sp>
      <p:sp>
        <p:nvSpPr>
          <p:cNvPr id="13" name="TextBox 12"/>
          <p:cNvSpPr txBox="1"/>
          <p:nvPr/>
        </p:nvSpPr>
        <p:spPr>
          <a:xfrm>
            <a:off x="2505456" y="1965960"/>
            <a:ext cx="182880" cy="914400"/>
          </a:xfrm>
          <a:prstGeom prst="rect">
            <a:avLst/>
          </a:prstGeom>
          <a:noFill/>
        </p:spPr>
        <p:txBody>
          <a:bodyPr wrap="square" anchor="ctr" lIns="0" rIns="0" tIns="0" bIns="0">
            <a:spAutoFit/>
          </a:bodyPr>
          <a:lstStyle/>
          <a:p>
            <a:pPr algn="ctr">
              <a:lnSpc>
                <a:spcPct val="100000"/>
              </a:lnSpc>
            </a:pPr>
            <a:r>
              <a:rPr sz="1800" b="1" i="0">
                <a:solidFill>
                  <a:srgbClr val="5B6472"/>
                </a:solidFill>
                <a:latin typeface="Segoe UI"/>
              </a:rPr>
              <a:t>→</a:t>
            </a:r>
          </a:p>
        </p:txBody>
      </p:sp>
      <p:sp>
        <p:nvSpPr>
          <p:cNvPr id="14" name="Rounded Rectangle 13"/>
          <p:cNvSpPr/>
          <p:nvPr/>
        </p:nvSpPr>
        <p:spPr>
          <a:xfrm>
            <a:off x="2688336" y="1965960"/>
            <a:ext cx="2139696" cy="914400"/>
          </a:xfrm>
          <a:prstGeom prst="roundRect">
            <a:avLst/>
          </a:prstGeom>
          <a:solidFill>
            <a:srgbClr val="1B7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0" y="1965960"/>
            <a:ext cx="2029968" cy="914400"/>
          </a:xfrm>
          <a:prstGeom prst="rect">
            <a:avLst/>
          </a:prstGeom>
          <a:noFill/>
        </p:spPr>
        <p:txBody>
          <a:bodyPr wrap="square" anchor="ctr" lIns="0" rIns="0" tIns="0" bIns="0">
            <a:spAutoFit/>
          </a:bodyPr>
          <a:lstStyle/>
          <a:p>
            <a:pPr algn="ctr">
              <a:lnSpc>
                <a:spcPct val="105000"/>
              </a:lnSpc>
            </a:pPr>
            <a:r>
              <a:rPr sz="1100" b="1" i="0">
                <a:solidFill>
                  <a:srgbClr val="FFFFFF"/>
                </a:solidFill>
                <a:latin typeface="Segoe UI"/>
              </a:rPr>
              <a:t>Photo + CV</a:t>
            </a:r>
          </a:p>
          <a:p>
            <a:pPr algn="ctr">
              <a:lnSpc>
                <a:spcPct val="105000"/>
              </a:lnSpc>
            </a:pPr>
            <a:r>
              <a:rPr sz="1100" b="1" i="0">
                <a:solidFill>
                  <a:srgbClr val="FFFFFF"/>
                </a:solidFill>
                <a:latin typeface="Segoe UI"/>
              </a:rPr>
              <a:t>condition score</a:t>
            </a:r>
          </a:p>
        </p:txBody>
      </p:sp>
      <p:sp>
        <p:nvSpPr>
          <p:cNvPr id="16" name="TextBox 15"/>
          <p:cNvSpPr txBox="1"/>
          <p:nvPr/>
        </p:nvSpPr>
        <p:spPr>
          <a:xfrm>
            <a:off x="4828032" y="1965960"/>
            <a:ext cx="182880" cy="914400"/>
          </a:xfrm>
          <a:prstGeom prst="rect">
            <a:avLst/>
          </a:prstGeom>
          <a:noFill/>
        </p:spPr>
        <p:txBody>
          <a:bodyPr wrap="square" anchor="ctr" lIns="0" rIns="0" tIns="0" bIns="0">
            <a:spAutoFit/>
          </a:bodyPr>
          <a:lstStyle/>
          <a:p>
            <a:pPr algn="ctr">
              <a:lnSpc>
                <a:spcPct val="100000"/>
              </a:lnSpc>
            </a:pPr>
            <a:r>
              <a:rPr sz="1800" b="1" i="0">
                <a:solidFill>
                  <a:srgbClr val="5B6472"/>
                </a:solidFill>
                <a:latin typeface="Segoe UI"/>
              </a:rPr>
              <a:t>→</a:t>
            </a:r>
          </a:p>
        </p:txBody>
      </p:sp>
      <p:sp>
        <p:nvSpPr>
          <p:cNvPr id="17" name="Rounded Rectangle 16"/>
          <p:cNvSpPr/>
          <p:nvPr/>
        </p:nvSpPr>
        <p:spPr>
          <a:xfrm>
            <a:off x="5010912" y="1965960"/>
            <a:ext cx="2139696" cy="914400"/>
          </a:xfrm>
          <a:prstGeom prst="round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65776" y="1965960"/>
            <a:ext cx="2029968" cy="914400"/>
          </a:xfrm>
          <a:prstGeom prst="rect">
            <a:avLst/>
          </a:prstGeom>
          <a:noFill/>
        </p:spPr>
        <p:txBody>
          <a:bodyPr wrap="square" anchor="ctr" lIns="0" rIns="0" tIns="0" bIns="0">
            <a:spAutoFit/>
          </a:bodyPr>
          <a:lstStyle/>
          <a:p>
            <a:pPr algn="ctr">
              <a:lnSpc>
                <a:spcPct val="105000"/>
              </a:lnSpc>
            </a:pPr>
            <a:r>
              <a:rPr sz="1100" b="1" i="0">
                <a:solidFill>
                  <a:srgbClr val="FFFFFF"/>
                </a:solidFill>
                <a:latin typeface="Segoe UI"/>
              </a:rPr>
              <a:t>In customer's</a:t>
            </a:r>
          </a:p>
          <a:p>
            <a:pPr algn="ctr">
              <a:lnSpc>
                <a:spcPct val="105000"/>
              </a:lnSpc>
            </a:pPr>
            <a:r>
              <a:rPr sz="1100" b="1" i="0">
                <a:solidFill>
                  <a:srgbClr val="FFFFFF"/>
                </a:solidFill>
                <a:latin typeface="Segoe UI"/>
              </a:rPr>
              <a:t>possession</a:t>
            </a:r>
          </a:p>
        </p:txBody>
      </p:sp>
      <p:sp>
        <p:nvSpPr>
          <p:cNvPr id="19" name="TextBox 18"/>
          <p:cNvSpPr txBox="1"/>
          <p:nvPr/>
        </p:nvSpPr>
        <p:spPr>
          <a:xfrm>
            <a:off x="7150608" y="1965960"/>
            <a:ext cx="182880" cy="914400"/>
          </a:xfrm>
          <a:prstGeom prst="rect">
            <a:avLst/>
          </a:prstGeom>
          <a:noFill/>
        </p:spPr>
        <p:txBody>
          <a:bodyPr wrap="square" anchor="ctr" lIns="0" rIns="0" tIns="0" bIns="0">
            <a:spAutoFit/>
          </a:bodyPr>
          <a:lstStyle/>
          <a:p>
            <a:pPr algn="ctr">
              <a:lnSpc>
                <a:spcPct val="100000"/>
              </a:lnSpc>
            </a:pPr>
            <a:r>
              <a:rPr sz="1800" b="1" i="0">
                <a:solidFill>
                  <a:srgbClr val="5B6472"/>
                </a:solidFill>
                <a:latin typeface="Segoe UI"/>
              </a:rPr>
              <a:t>→</a:t>
            </a:r>
          </a:p>
        </p:txBody>
      </p:sp>
      <p:sp>
        <p:nvSpPr>
          <p:cNvPr id="20" name="Rounded Rectangle 19"/>
          <p:cNvSpPr/>
          <p:nvPr/>
        </p:nvSpPr>
        <p:spPr>
          <a:xfrm>
            <a:off x="7333488" y="1965960"/>
            <a:ext cx="2139696" cy="914400"/>
          </a:xfrm>
          <a:prstGeom prst="roundRect">
            <a:avLst/>
          </a:prstGeom>
          <a:solidFill>
            <a:srgbClr val="1B7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88352" y="1965960"/>
            <a:ext cx="2029968" cy="914400"/>
          </a:xfrm>
          <a:prstGeom prst="rect">
            <a:avLst/>
          </a:prstGeom>
          <a:noFill/>
        </p:spPr>
        <p:txBody>
          <a:bodyPr wrap="square" anchor="ctr" lIns="0" rIns="0" tIns="0" bIns="0">
            <a:spAutoFit/>
          </a:bodyPr>
          <a:lstStyle/>
          <a:p>
            <a:pPr algn="ctr">
              <a:lnSpc>
                <a:spcPct val="105000"/>
              </a:lnSpc>
            </a:pPr>
            <a:r>
              <a:rPr sz="1100" b="1" i="0">
                <a:solidFill>
                  <a:srgbClr val="FFFFFF"/>
                </a:solidFill>
                <a:latin typeface="Segoe UI"/>
              </a:rPr>
              <a:t>Photo + CV score</a:t>
            </a:r>
          </a:p>
          <a:p>
            <a:pPr algn="ctr">
              <a:lnSpc>
                <a:spcPct val="105000"/>
              </a:lnSpc>
            </a:pPr>
            <a:r>
              <a:rPr sz="1100" b="1" i="0">
                <a:solidFill>
                  <a:srgbClr val="FFFFFF"/>
                </a:solidFill>
                <a:latin typeface="Segoe UI"/>
              </a:rPr>
              <a:t>at return</a:t>
            </a:r>
          </a:p>
        </p:txBody>
      </p:sp>
      <p:sp>
        <p:nvSpPr>
          <p:cNvPr id="22" name="TextBox 21"/>
          <p:cNvSpPr txBox="1"/>
          <p:nvPr/>
        </p:nvSpPr>
        <p:spPr>
          <a:xfrm>
            <a:off x="9473184" y="1965960"/>
            <a:ext cx="182880" cy="914400"/>
          </a:xfrm>
          <a:prstGeom prst="rect">
            <a:avLst/>
          </a:prstGeom>
          <a:noFill/>
        </p:spPr>
        <p:txBody>
          <a:bodyPr wrap="square" anchor="ctr" lIns="0" rIns="0" tIns="0" bIns="0">
            <a:spAutoFit/>
          </a:bodyPr>
          <a:lstStyle/>
          <a:p>
            <a:pPr algn="ctr">
              <a:lnSpc>
                <a:spcPct val="100000"/>
              </a:lnSpc>
            </a:pPr>
            <a:r>
              <a:rPr sz="1800" b="1" i="0">
                <a:solidFill>
                  <a:srgbClr val="5B6472"/>
                </a:solidFill>
                <a:latin typeface="Segoe UI"/>
              </a:rPr>
              <a:t>→</a:t>
            </a:r>
          </a:p>
        </p:txBody>
      </p:sp>
      <p:sp>
        <p:nvSpPr>
          <p:cNvPr id="23" name="Rounded Rectangle 22"/>
          <p:cNvSpPr/>
          <p:nvPr/>
        </p:nvSpPr>
        <p:spPr>
          <a:xfrm>
            <a:off x="9656064" y="1965960"/>
            <a:ext cx="2139696" cy="914400"/>
          </a:xfrm>
          <a:prstGeom prst="roundRect">
            <a:avLst/>
          </a:prstGeom>
          <a:solidFill>
            <a:srgbClr val="E06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10928" y="1965960"/>
            <a:ext cx="2029968" cy="914400"/>
          </a:xfrm>
          <a:prstGeom prst="rect">
            <a:avLst/>
          </a:prstGeom>
          <a:noFill/>
        </p:spPr>
        <p:txBody>
          <a:bodyPr wrap="square" anchor="ctr" lIns="0" rIns="0" tIns="0" bIns="0">
            <a:spAutoFit/>
          </a:bodyPr>
          <a:lstStyle/>
          <a:p>
            <a:pPr algn="ctr">
              <a:lnSpc>
                <a:spcPct val="105000"/>
              </a:lnSpc>
            </a:pPr>
            <a:r>
              <a:rPr sz="1100" b="1" i="0">
                <a:solidFill>
                  <a:srgbClr val="FFFFFF"/>
                </a:solidFill>
                <a:latin typeface="Segoe UI"/>
              </a:rPr>
              <a:t>Auto-compare &amp;</a:t>
            </a:r>
          </a:p>
          <a:p>
            <a:pPr algn="ctr">
              <a:lnSpc>
                <a:spcPct val="105000"/>
              </a:lnSpc>
            </a:pPr>
            <a:r>
              <a:rPr sz="1100" b="1" i="0">
                <a:solidFill>
                  <a:srgbClr val="FFFFFF"/>
                </a:solidFill>
                <a:latin typeface="Segoe UI"/>
              </a:rPr>
              <a:t>resolve deposit</a:t>
            </a:r>
          </a:p>
        </p:txBody>
      </p:sp>
      <p:sp>
        <p:nvSpPr>
          <p:cNvPr id="25" name="TextBox 24"/>
          <p:cNvSpPr txBox="1"/>
          <p:nvPr/>
        </p:nvSpPr>
        <p:spPr>
          <a:xfrm>
            <a:off x="365760" y="3154680"/>
            <a:ext cx="5486400" cy="320040"/>
          </a:xfrm>
          <a:prstGeom prst="rect">
            <a:avLst/>
          </a:prstGeom>
          <a:noFill/>
        </p:spPr>
        <p:txBody>
          <a:bodyPr wrap="square" anchor="t" lIns="0" rIns="0" tIns="0" bIns="0">
            <a:spAutoFit/>
          </a:bodyPr>
          <a:lstStyle/>
          <a:p>
            <a:pPr algn="l">
              <a:lnSpc>
                <a:spcPct val="100000"/>
              </a:lnSpc>
            </a:pPr>
            <a:r>
              <a:rPr sz="1400" b="1" i="0">
                <a:solidFill>
                  <a:srgbClr val="1B7F5B"/>
                </a:solidFill>
                <a:latin typeface="Century Gothic"/>
              </a:rPr>
              <a:t>What This Buys RentEase</a:t>
            </a:r>
          </a:p>
        </p:txBody>
      </p:sp>
      <p:sp>
        <p:nvSpPr>
          <p:cNvPr id="26" name="TextBox 25"/>
          <p:cNvSpPr txBox="1"/>
          <p:nvPr/>
        </p:nvSpPr>
        <p:spPr>
          <a:xfrm>
            <a:off x="365760" y="3566160"/>
            <a:ext cx="5486400" cy="2743200"/>
          </a:xfrm>
          <a:prstGeom prst="rect">
            <a:avLst/>
          </a:prstGeom>
          <a:noFill/>
        </p:spPr>
        <p:txBody>
          <a:bodyPr wrap="square" lIns="0" rIns="0" tIns="0" bIns="0">
            <a:spAutoFit/>
          </a:bodyPr>
          <a:lstStyle/>
          <a:p>
            <a:pPr>
              <a:lnSpc>
                <a:spcPct val="105000"/>
              </a:lnSpc>
              <a:spcAft>
                <a:spcPts val="800"/>
              </a:spcAft>
            </a:pPr>
            <a:r>
              <a:rPr sz="1200">
                <a:solidFill>
                  <a:srgbClr val="E06A1F"/>
                </a:solidFill>
                <a:latin typeface="Segoe UI"/>
              </a:rPr>
              <a:t>●  </a:t>
            </a:r>
            <a:r>
              <a:rPr sz="1200" b="1" i="1">
                <a:solidFill>
                  <a:srgbClr val="0B2447"/>
                </a:solidFill>
                <a:latin typeface="Segoe UI"/>
              </a:rPr>
              <a:t>Fewer disputes,  </a:t>
            </a:r>
            <a:r>
              <a:rPr sz="1200" i="1">
                <a:solidFill>
                  <a:srgbClr val="22222A"/>
                </a:solidFill>
                <a:latin typeface="Segoe UI"/>
              </a:rPr>
              <a:t>faster resolutions — condition delta is computed, not argued over.</a:t>
            </a:r>
          </a:p>
          <a:p>
            <a:pPr>
              <a:lnSpc>
                <a:spcPct val="105000"/>
              </a:lnSpc>
              <a:spcAft>
                <a:spcPts val="800"/>
              </a:spcAft>
            </a:pPr>
            <a:r>
              <a:rPr sz="1200">
                <a:solidFill>
                  <a:srgbClr val="E06A1F"/>
                </a:solidFill>
                <a:latin typeface="Segoe UI"/>
              </a:rPr>
              <a:t>●  </a:t>
            </a:r>
            <a:r>
              <a:rPr sz="1200" b="1" i="1">
                <a:solidFill>
                  <a:srgbClr val="0B2447"/>
                </a:solidFill>
                <a:latin typeface="Segoe UI"/>
              </a:rPr>
              <a:t>Fair, automatic deposit handling,  </a:t>
            </a:r>
            <a:r>
              <a:rPr sz="1200" i="1">
                <a:solidFill>
                  <a:srgbClr val="22222A"/>
                </a:solidFill>
                <a:latin typeface="Segoe UI"/>
              </a:rPr>
              <a:t>which is itself a trust signal to customers who are wary of hidden fees.</a:t>
            </a:r>
          </a:p>
          <a:p>
            <a:pPr>
              <a:lnSpc>
                <a:spcPct val="105000"/>
              </a:lnSpc>
              <a:spcAft>
                <a:spcPts val="800"/>
              </a:spcAft>
            </a:pPr>
            <a:r>
              <a:rPr sz="1200">
                <a:solidFill>
                  <a:srgbClr val="E06A1F"/>
                </a:solidFill>
                <a:latin typeface="Segoe UI"/>
              </a:rPr>
              <a:t>●  </a:t>
            </a:r>
            <a:r>
              <a:rPr sz="1200" b="1" i="1">
                <a:solidFill>
                  <a:srgbClr val="0B2447"/>
                </a:solidFill>
                <a:latin typeface="Segoe UI"/>
              </a:rPr>
              <a:t>Loss reconciliation,  </a:t>
            </a:r>
            <a:r>
              <a:rPr sz="1200" i="1">
                <a:solidFill>
                  <a:srgbClr val="22222A"/>
                </a:solidFill>
                <a:latin typeface="Segoe UI"/>
              </a:rPr>
              <a:t>asset tags mean a missing item is flagged at the next warehouse scan, not discovered months later.</a:t>
            </a:r>
          </a:p>
        </p:txBody>
      </p:sp>
      <p:sp>
        <p:nvSpPr>
          <p:cNvPr id="27" name="TextBox 26"/>
          <p:cNvSpPr txBox="1"/>
          <p:nvPr/>
        </p:nvSpPr>
        <p:spPr>
          <a:xfrm>
            <a:off x="6309360" y="3154680"/>
            <a:ext cx="5486400" cy="320040"/>
          </a:xfrm>
          <a:prstGeom prst="rect">
            <a:avLst/>
          </a:prstGeom>
          <a:noFill/>
        </p:spPr>
        <p:txBody>
          <a:bodyPr wrap="square" anchor="t" lIns="0" rIns="0" tIns="0" bIns="0">
            <a:spAutoFit/>
          </a:bodyPr>
          <a:lstStyle/>
          <a:p>
            <a:pPr algn="l">
              <a:lnSpc>
                <a:spcPct val="100000"/>
              </a:lnSpc>
            </a:pPr>
            <a:r>
              <a:rPr sz="1400" b="1" i="0">
                <a:solidFill>
                  <a:srgbClr val="5E4198"/>
                </a:solidFill>
                <a:latin typeface="Century Gothic"/>
              </a:rPr>
              <a:t>Customer Trust, Not Just Cost Control</a:t>
            </a:r>
          </a:p>
        </p:txBody>
      </p:sp>
      <p:sp>
        <p:nvSpPr>
          <p:cNvPr id="28" name="Rectangle 27"/>
          <p:cNvSpPr/>
          <p:nvPr/>
        </p:nvSpPr>
        <p:spPr>
          <a:xfrm>
            <a:off x="6309360" y="3566160"/>
            <a:ext cx="5486400" cy="2743200"/>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3703320"/>
            <a:ext cx="5120640" cy="2468880"/>
          </a:xfrm>
          <a:prstGeom prst="rect">
            <a:avLst/>
          </a:prstGeom>
          <a:noFill/>
        </p:spPr>
        <p:txBody>
          <a:bodyPr wrap="square" anchor="t" lIns="0" rIns="0" tIns="0" bIns="0">
            <a:spAutoFit/>
          </a:bodyPr>
          <a:lstStyle/>
          <a:p>
            <a:pPr algn="l">
              <a:lnSpc>
                <a:spcPct val="125000"/>
              </a:lnSpc>
            </a:pPr>
            <a:r>
              <a:rPr sz="1250" b="0" i="1">
                <a:solidFill>
                  <a:srgbClr val="22222A"/>
                </a:solidFill>
                <a:latin typeface="Segoe UI"/>
              </a:rPr>
              <a:t>The customers most resistant to renting over owning are worried about being blamed for pre-existing wear. A visible, photo-backed condition record at handover removes that fear before it's even raised — this is a retention lever disguised as a loss-prevention feature.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6400800" cy="566928"/>
          </a:xfrm>
          <a:prstGeom prst="rect">
            <a:avLst/>
          </a:prstGeom>
          <a:noFill/>
        </p:spPr>
        <p:txBody>
          <a:bodyPr wrap="square" anchor="ctr" lIns="0" rIns="0" tIns="0" bIns="0">
            <a:spAutoFit/>
          </a:bodyPr>
          <a:lstStyle/>
          <a:p>
            <a:pPr algn="l">
              <a:lnSpc>
                <a:spcPct val="100000"/>
              </a:lnSpc>
            </a:pPr>
            <a:r>
              <a:rPr sz="1300" b="1" i="0">
                <a:solidFill>
                  <a:srgbClr val="FFFFFF"/>
                </a:solidFill>
                <a:latin typeface="Segoe UI"/>
              </a:rPr>
              <a:t>RENTEASE — SCALING STRATEGY</a:t>
            </a:r>
          </a:p>
        </p:txBody>
      </p:sp>
      <p:sp>
        <p:nvSpPr>
          <p:cNvPr id="4" name="TextBox 3"/>
          <p:cNvSpPr txBox="1"/>
          <p:nvPr/>
        </p:nvSpPr>
        <p:spPr>
          <a:xfrm>
            <a:off x="8168335" y="0"/>
            <a:ext cx="3657600" cy="566928"/>
          </a:xfrm>
          <a:prstGeom prst="rect">
            <a:avLst/>
          </a:prstGeom>
          <a:noFill/>
        </p:spPr>
        <p:txBody>
          <a:bodyPr wrap="square" anchor="ctr" lIns="0" rIns="0" tIns="0" bIns="0">
            <a:spAutoFit/>
          </a:bodyPr>
          <a:lstStyle/>
          <a:p>
            <a:pPr algn="r">
              <a:lnSpc>
                <a:spcPct val="100000"/>
              </a:lnSpc>
            </a:pPr>
            <a:r>
              <a:rPr sz="1200" b="0" i="1">
                <a:solidFill>
                  <a:srgbClr val="E8E8EC"/>
                </a:solidFill>
                <a:latin typeface="Segoe UI"/>
              </a:rPr>
              <a:t>CTO Case Study Response</a:t>
            </a:r>
          </a:p>
        </p:txBody>
      </p:sp>
      <p:sp>
        <p:nvSpPr>
          <p:cNvPr id="5" name="Rectangle 4"/>
          <p:cNvSpPr/>
          <p:nvPr/>
        </p:nvSpPr>
        <p:spPr>
          <a:xfrm>
            <a:off x="0" y="566928"/>
            <a:ext cx="12191695" cy="54864"/>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75704"/>
            <a:ext cx="12191695" cy="82296"/>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77295" y="6473952"/>
            <a:ext cx="640080" cy="274320"/>
          </a:xfrm>
          <a:prstGeom prst="rect">
            <a:avLst/>
          </a:prstGeom>
          <a:noFill/>
        </p:spPr>
        <p:txBody>
          <a:bodyPr wrap="square" anchor="t" lIns="0" rIns="0" tIns="0" bIns="0">
            <a:spAutoFit/>
          </a:bodyPr>
          <a:lstStyle/>
          <a:p>
            <a:pPr algn="r">
              <a:lnSpc>
                <a:spcPct val="100000"/>
              </a:lnSpc>
            </a:pPr>
            <a:r>
              <a:rPr sz="1100" b="1" i="0">
                <a:solidFill>
                  <a:srgbClr val="0B2447"/>
                </a:solidFill>
                <a:latin typeface="Segoe UI"/>
              </a:rPr>
              <a:t>5</a:t>
            </a:r>
          </a:p>
        </p:txBody>
      </p:sp>
      <p:sp>
        <p:nvSpPr>
          <p:cNvPr id="8" name="TextBox 7"/>
          <p:cNvSpPr txBox="1"/>
          <p:nvPr/>
        </p:nvSpPr>
        <p:spPr>
          <a:xfrm>
            <a:off x="365760" y="658368"/>
            <a:ext cx="10515600" cy="274320"/>
          </a:xfrm>
          <a:prstGeom prst="rect">
            <a:avLst/>
          </a:prstGeom>
          <a:noFill/>
        </p:spPr>
        <p:txBody>
          <a:bodyPr wrap="square" anchor="t" lIns="0" rIns="0" tIns="0" bIns="0">
            <a:spAutoFit/>
          </a:bodyPr>
          <a:lstStyle/>
          <a:p>
            <a:pPr algn="l">
              <a:lnSpc>
                <a:spcPct val="100000"/>
              </a:lnSpc>
            </a:pPr>
            <a:r>
              <a:rPr sz="1150" b="1" i="0">
                <a:solidFill>
                  <a:srgbClr val="E06A1F"/>
                </a:solidFill>
                <a:latin typeface="Segoe UI"/>
              </a:rPr>
              <a:t>FIX #2</a:t>
            </a:r>
          </a:p>
        </p:txBody>
      </p:sp>
      <p:sp>
        <p:nvSpPr>
          <p:cNvPr id="9" name="TextBox 8"/>
          <p:cNvSpPr txBox="1"/>
          <p:nvPr/>
        </p:nvSpPr>
        <p:spPr>
          <a:xfrm>
            <a:off x="365760" y="914400"/>
            <a:ext cx="11430000" cy="502920"/>
          </a:xfrm>
          <a:prstGeom prst="rect">
            <a:avLst/>
          </a:prstGeom>
          <a:noFill/>
        </p:spPr>
        <p:txBody>
          <a:bodyPr wrap="square" anchor="t" lIns="0" rIns="0" tIns="0" bIns="0">
            <a:spAutoFit/>
          </a:bodyPr>
          <a:lstStyle/>
          <a:p>
            <a:pPr algn="l">
              <a:lnSpc>
                <a:spcPct val="100000"/>
              </a:lnSpc>
            </a:pPr>
            <a:r>
              <a:rPr sz="2300" b="1" i="0">
                <a:solidFill>
                  <a:srgbClr val="0B2447"/>
                </a:solidFill>
                <a:latin typeface="Century Gothic"/>
              </a:rPr>
              <a:t>Bending the Delivery &amp; Maintenance Cost Curve</a:t>
            </a:r>
          </a:p>
        </p:txBody>
      </p:sp>
      <p:sp>
        <p:nvSpPr>
          <p:cNvPr id="10" name="TextBox 9"/>
          <p:cNvSpPr txBox="1"/>
          <p:nvPr/>
        </p:nvSpPr>
        <p:spPr>
          <a:xfrm>
            <a:off x="365760" y="1371600"/>
            <a:ext cx="11430000" cy="457200"/>
          </a:xfrm>
          <a:prstGeom prst="rect">
            <a:avLst/>
          </a:prstGeom>
          <a:noFill/>
        </p:spPr>
        <p:txBody>
          <a:bodyPr wrap="square" anchor="t" lIns="0" rIns="0" tIns="0" bIns="0">
            <a:spAutoFit/>
          </a:bodyPr>
          <a:lstStyle/>
          <a:p>
            <a:pPr algn="l">
              <a:lnSpc>
                <a:spcPct val="100000"/>
              </a:lnSpc>
            </a:pPr>
            <a:r>
              <a:rPr sz="1300" b="0" i="1">
                <a:solidFill>
                  <a:srgbClr val="22222A"/>
                </a:solidFill>
                <a:latin typeface="Segoe UI"/>
              </a:rPr>
              <a:t>Cost per order should fall with scale, not rise with it — that only happens if routing and upkeep are systems, not judgment calls.</a:t>
            </a:r>
          </a:p>
        </p:txBody>
      </p:sp>
      <p:sp>
        <p:nvSpPr>
          <p:cNvPr id="11" name="TextBox 10"/>
          <p:cNvSpPr txBox="1"/>
          <p:nvPr/>
        </p:nvSpPr>
        <p:spPr>
          <a:xfrm>
            <a:off x="365760" y="2057400"/>
            <a:ext cx="5486400" cy="320040"/>
          </a:xfrm>
          <a:prstGeom prst="rect">
            <a:avLst/>
          </a:prstGeom>
          <a:noFill/>
        </p:spPr>
        <p:txBody>
          <a:bodyPr wrap="square" anchor="t" lIns="0" rIns="0" tIns="0" bIns="0">
            <a:spAutoFit/>
          </a:bodyPr>
          <a:lstStyle/>
          <a:p>
            <a:pPr algn="l">
              <a:lnSpc>
                <a:spcPct val="100000"/>
              </a:lnSpc>
            </a:pPr>
            <a:r>
              <a:rPr sz="1500" b="1" i="0">
                <a:solidFill>
                  <a:srgbClr val="1B7F5B"/>
                </a:solidFill>
                <a:latin typeface="Century Gothic"/>
              </a:rPr>
              <a:t>Two Systems to Put in Place</a:t>
            </a:r>
          </a:p>
        </p:txBody>
      </p:sp>
      <p:sp>
        <p:nvSpPr>
          <p:cNvPr id="12" name="TextBox 11"/>
          <p:cNvSpPr txBox="1"/>
          <p:nvPr/>
        </p:nvSpPr>
        <p:spPr>
          <a:xfrm>
            <a:off x="365760" y="2468880"/>
            <a:ext cx="5486400" cy="3017520"/>
          </a:xfrm>
          <a:prstGeom prst="rect">
            <a:avLst/>
          </a:prstGeom>
          <a:noFill/>
        </p:spPr>
        <p:txBody>
          <a:bodyPr wrap="square" lIns="0" rIns="0" tIns="0" bIns="0">
            <a:spAutoFit/>
          </a:bodyPr>
          <a:lstStyle/>
          <a:p>
            <a:pPr>
              <a:lnSpc>
                <a:spcPct val="105000"/>
              </a:lnSpc>
              <a:spcAft>
                <a:spcPts val="800"/>
              </a:spcAft>
            </a:pPr>
            <a:r>
              <a:rPr sz="1200">
                <a:solidFill>
                  <a:srgbClr val="E06A1F"/>
                </a:solidFill>
                <a:latin typeface="Segoe UI"/>
              </a:rPr>
              <a:t>●  </a:t>
            </a:r>
            <a:r>
              <a:rPr sz="1200" b="1" i="1">
                <a:solidFill>
                  <a:srgbClr val="0B2447"/>
                </a:solidFill>
                <a:latin typeface="Segoe UI"/>
              </a:rPr>
              <a:t>Route-optimized batching:  </a:t>
            </a:r>
            <a:r>
              <a:rPr sz="1200" i="1">
                <a:solidFill>
                  <a:srgbClr val="22222A"/>
                </a:solidFill>
                <a:latin typeface="Segoe UI"/>
              </a:rPr>
              <a:t>cluster pickups/deliveries by geography and time window instead of dispatching one order at a time.</a:t>
            </a:r>
          </a:p>
          <a:p>
            <a:pPr>
              <a:lnSpc>
                <a:spcPct val="105000"/>
              </a:lnSpc>
              <a:spcAft>
                <a:spcPts val="800"/>
              </a:spcAft>
            </a:pPr>
            <a:r>
              <a:rPr sz="1200">
                <a:solidFill>
                  <a:srgbClr val="E06A1F"/>
                </a:solidFill>
                <a:latin typeface="Segoe UI"/>
              </a:rPr>
              <a:t>●  </a:t>
            </a:r>
            <a:r>
              <a:rPr sz="1200" b="1" i="1">
                <a:solidFill>
                  <a:srgbClr val="0B2447"/>
                </a:solidFill>
                <a:latin typeface="Segoe UI"/>
              </a:rPr>
              <a:t>Predictive maintenance:  </a:t>
            </a:r>
            <a:r>
              <a:rPr sz="1200" i="1">
                <a:solidFill>
                  <a:srgbClr val="22222A"/>
                </a:solidFill>
                <a:latin typeface="Segoe UI"/>
              </a:rPr>
              <a:t>schedule servicing from usage hours/cycles per item, not a fixed calendar — catch failure before it becomes an emergency repair.</a:t>
            </a:r>
          </a:p>
          <a:p>
            <a:pPr>
              <a:lnSpc>
                <a:spcPct val="105000"/>
              </a:lnSpc>
              <a:spcAft>
                <a:spcPts val="800"/>
              </a:spcAft>
            </a:pPr>
            <a:r>
              <a:rPr sz="1200">
                <a:solidFill>
                  <a:srgbClr val="E06A1F"/>
                </a:solidFill>
                <a:latin typeface="Segoe UI"/>
              </a:rPr>
              <a:t>●  </a:t>
            </a:r>
            <a:r>
              <a:rPr sz="1200" b="1" i="1">
                <a:solidFill>
                  <a:srgbClr val="0B2447"/>
                </a:solidFill>
                <a:latin typeface="Segoe UI"/>
              </a:rPr>
              <a:t>Partner-technician network app:  </a:t>
            </a:r>
            <a:r>
              <a:rPr sz="1200" i="1">
                <a:solidFill>
                  <a:srgbClr val="22222A"/>
                </a:solidFill>
                <a:latin typeface="Segoe UI"/>
              </a:rPr>
              <a:t>an asset-light service layer — RentEase doesn't need to employ repair staff in every new city, just certify and route work to local partners through the app.</a:t>
            </a:r>
          </a:p>
        </p:txBody>
      </p:sp>
      <p:sp>
        <p:nvSpPr>
          <p:cNvPr id="13" name="TextBox 12"/>
          <p:cNvSpPr txBox="1"/>
          <p:nvPr/>
        </p:nvSpPr>
        <p:spPr>
          <a:xfrm>
            <a:off x="6309360" y="2057400"/>
            <a:ext cx="5486400" cy="320040"/>
          </a:xfrm>
          <a:prstGeom prst="rect">
            <a:avLst/>
          </a:prstGeom>
          <a:noFill/>
        </p:spPr>
        <p:txBody>
          <a:bodyPr wrap="square" anchor="t" lIns="0" rIns="0" tIns="0" bIns="0">
            <a:spAutoFit/>
          </a:bodyPr>
          <a:lstStyle/>
          <a:p>
            <a:pPr algn="l">
              <a:lnSpc>
                <a:spcPct val="100000"/>
              </a:lnSpc>
            </a:pPr>
            <a:r>
              <a:rPr sz="1500" b="1" i="0">
                <a:solidFill>
                  <a:srgbClr val="5E4198"/>
                </a:solidFill>
                <a:latin typeface="Century Gothic"/>
              </a:rPr>
              <a:t>Why This Is Also the Expansion Answer</a:t>
            </a:r>
          </a:p>
        </p:txBody>
      </p:sp>
      <p:sp>
        <p:nvSpPr>
          <p:cNvPr id="14" name="Rectangle 13"/>
          <p:cNvSpPr/>
          <p:nvPr/>
        </p:nvSpPr>
        <p:spPr>
          <a:xfrm>
            <a:off x="6309360" y="2468880"/>
            <a:ext cx="5486400" cy="3383280"/>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633472"/>
            <a:ext cx="5120640" cy="3108960"/>
          </a:xfrm>
          <a:prstGeom prst="rect">
            <a:avLst/>
          </a:prstGeom>
          <a:noFill/>
        </p:spPr>
        <p:txBody>
          <a:bodyPr wrap="square" anchor="t" lIns="0" rIns="0" tIns="0" bIns="0">
            <a:spAutoFit/>
          </a:bodyPr>
          <a:lstStyle/>
          <a:p>
            <a:pPr algn="l">
              <a:lnSpc>
                <a:spcPct val="125000"/>
              </a:lnSpc>
            </a:pPr>
            <a:r>
              <a:rPr sz="1250" b="0" i="1">
                <a:solidFill>
                  <a:srgbClr val="22222A"/>
                </a:solidFill>
                <a:latin typeface="Segoe UI"/>
              </a:rPr>
              <a:t>The same partner-technician model that controls repair cost in existing cities is what makes new cities cheap to enter — RentEase brings the software and the certification standard, the local partner brings the labor and the vehicles. That's the difference between funding a fleet and funding an app, and it directly answers the "expansion requires significant investment" challenge without RentEase touching that line item.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6400800" cy="566928"/>
          </a:xfrm>
          <a:prstGeom prst="rect">
            <a:avLst/>
          </a:prstGeom>
          <a:noFill/>
        </p:spPr>
        <p:txBody>
          <a:bodyPr wrap="square" anchor="ctr" lIns="0" rIns="0" tIns="0" bIns="0">
            <a:spAutoFit/>
          </a:bodyPr>
          <a:lstStyle/>
          <a:p>
            <a:pPr algn="l">
              <a:lnSpc>
                <a:spcPct val="100000"/>
              </a:lnSpc>
            </a:pPr>
            <a:r>
              <a:rPr sz="1300" b="1" i="0">
                <a:solidFill>
                  <a:srgbClr val="FFFFFF"/>
                </a:solidFill>
                <a:latin typeface="Segoe UI"/>
              </a:rPr>
              <a:t>RENTEASE — SCALING STRATEGY</a:t>
            </a:r>
          </a:p>
        </p:txBody>
      </p:sp>
      <p:sp>
        <p:nvSpPr>
          <p:cNvPr id="4" name="TextBox 3"/>
          <p:cNvSpPr txBox="1"/>
          <p:nvPr/>
        </p:nvSpPr>
        <p:spPr>
          <a:xfrm>
            <a:off x="8168335" y="0"/>
            <a:ext cx="3657600" cy="566928"/>
          </a:xfrm>
          <a:prstGeom prst="rect">
            <a:avLst/>
          </a:prstGeom>
          <a:noFill/>
        </p:spPr>
        <p:txBody>
          <a:bodyPr wrap="square" anchor="ctr" lIns="0" rIns="0" tIns="0" bIns="0">
            <a:spAutoFit/>
          </a:bodyPr>
          <a:lstStyle/>
          <a:p>
            <a:pPr algn="r">
              <a:lnSpc>
                <a:spcPct val="100000"/>
              </a:lnSpc>
            </a:pPr>
            <a:r>
              <a:rPr sz="1200" b="0" i="1">
                <a:solidFill>
                  <a:srgbClr val="E8E8EC"/>
                </a:solidFill>
                <a:latin typeface="Segoe UI"/>
              </a:rPr>
              <a:t>CTO Case Study Response</a:t>
            </a:r>
          </a:p>
        </p:txBody>
      </p:sp>
      <p:sp>
        <p:nvSpPr>
          <p:cNvPr id="5" name="Rectangle 4"/>
          <p:cNvSpPr/>
          <p:nvPr/>
        </p:nvSpPr>
        <p:spPr>
          <a:xfrm>
            <a:off x="0" y="566928"/>
            <a:ext cx="12191695" cy="54864"/>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75704"/>
            <a:ext cx="12191695" cy="82296"/>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77295" y="6473952"/>
            <a:ext cx="640080" cy="274320"/>
          </a:xfrm>
          <a:prstGeom prst="rect">
            <a:avLst/>
          </a:prstGeom>
          <a:noFill/>
        </p:spPr>
        <p:txBody>
          <a:bodyPr wrap="square" anchor="t" lIns="0" rIns="0" tIns="0" bIns="0">
            <a:spAutoFit/>
          </a:bodyPr>
          <a:lstStyle/>
          <a:p>
            <a:pPr algn="r">
              <a:lnSpc>
                <a:spcPct val="100000"/>
              </a:lnSpc>
            </a:pPr>
            <a:r>
              <a:rPr sz="1100" b="1" i="0">
                <a:solidFill>
                  <a:srgbClr val="0B2447"/>
                </a:solidFill>
                <a:latin typeface="Segoe UI"/>
              </a:rPr>
              <a:t>6</a:t>
            </a:r>
          </a:p>
        </p:txBody>
      </p:sp>
      <p:sp>
        <p:nvSpPr>
          <p:cNvPr id="8" name="TextBox 7"/>
          <p:cNvSpPr txBox="1"/>
          <p:nvPr/>
        </p:nvSpPr>
        <p:spPr>
          <a:xfrm>
            <a:off x="365760" y="658368"/>
            <a:ext cx="10515600" cy="274320"/>
          </a:xfrm>
          <a:prstGeom prst="rect">
            <a:avLst/>
          </a:prstGeom>
          <a:noFill/>
        </p:spPr>
        <p:txBody>
          <a:bodyPr wrap="square" anchor="t" lIns="0" rIns="0" tIns="0" bIns="0">
            <a:spAutoFit/>
          </a:bodyPr>
          <a:lstStyle/>
          <a:p>
            <a:pPr algn="l">
              <a:lnSpc>
                <a:spcPct val="100000"/>
              </a:lnSpc>
            </a:pPr>
            <a:r>
              <a:rPr sz="1150" b="1" i="0">
                <a:solidFill>
                  <a:srgbClr val="E06A1F"/>
                </a:solidFill>
                <a:latin typeface="Segoe UI"/>
              </a:rPr>
              <a:t>CREATIVITY &amp; DEFENSIBILITY</a:t>
            </a:r>
          </a:p>
        </p:txBody>
      </p:sp>
      <p:sp>
        <p:nvSpPr>
          <p:cNvPr id="9" name="TextBox 8"/>
          <p:cNvSpPr txBox="1"/>
          <p:nvPr/>
        </p:nvSpPr>
        <p:spPr>
          <a:xfrm>
            <a:off x="365760" y="914400"/>
            <a:ext cx="11430000" cy="502920"/>
          </a:xfrm>
          <a:prstGeom prst="rect">
            <a:avLst/>
          </a:prstGeom>
          <a:noFill/>
        </p:spPr>
        <p:txBody>
          <a:bodyPr wrap="square" anchor="t" lIns="0" rIns="0" tIns="0" bIns="0">
            <a:spAutoFit/>
          </a:bodyPr>
          <a:lstStyle/>
          <a:p>
            <a:pPr algn="l">
              <a:lnSpc>
                <a:spcPct val="100000"/>
              </a:lnSpc>
            </a:pPr>
            <a:r>
              <a:rPr sz="2300" b="1" i="0">
                <a:solidFill>
                  <a:srgbClr val="0B2447"/>
                </a:solidFill>
                <a:latin typeface="Century Gothic"/>
              </a:rPr>
              <a:t>The Real Moat Isn't Inventory — It's Condition Data</a:t>
            </a:r>
          </a:p>
        </p:txBody>
      </p:sp>
      <p:sp>
        <p:nvSpPr>
          <p:cNvPr id="10" name="TextBox 9"/>
          <p:cNvSpPr txBox="1"/>
          <p:nvPr/>
        </p:nvSpPr>
        <p:spPr>
          <a:xfrm>
            <a:off x="365760" y="1371600"/>
            <a:ext cx="11430000" cy="548640"/>
          </a:xfrm>
          <a:prstGeom prst="rect">
            <a:avLst/>
          </a:prstGeom>
          <a:noFill/>
        </p:spPr>
        <p:txBody>
          <a:bodyPr wrap="square" anchor="t" lIns="0" rIns="0" tIns="0" bIns="0">
            <a:spAutoFit/>
          </a:bodyPr>
          <a:lstStyle/>
          <a:p>
            <a:pPr algn="l">
              <a:lnSpc>
                <a:spcPct val="115000"/>
              </a:lnSpc>
            </a:pPr>
            <a:r>
              <a:rPr sz="1300" b="0" i="1">
                <a:solidFill>
                  <a:srgbClr val="22222A"/>
                </a:solidFill>
                <a:latin typeface="Segoe UI"/>
              </a:rPr>
              <a:t>Ikea and Amazon can out-spend RentEase on warehouses in a quarter. They cannot out-spend three years of item-level condition and failure data they don't have.</a:t>
            </a:r>
          </a:p>
        </p:txBody>
      </p:sp>
      <p:sp>
        <p:nvSpPr>
          <p:cNvPr id="11" name="Rounded Rectangle 10"/>
          <p:cNvSpPr/>
          <p:nvPr/>
        </p:nvSpPr>
        <p:spPr>
          <a:xfrm>
            <a:off x="365760" y="2148840"/>
            <a:ext cx="2743200" cy="914400"/>
          </a:xfrm>
          <a:prstGeom prst="round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148840"/>
            <a:ext cx="2468880" cy="914400"/>
          </a:xfrm>
          <a:prstGeom prst="rect">
            <a:avLst/>
          </a:prstGeom>
          <a:noFill/>
        </p:spPr>
        <p:txBody>
          <a:bodyPr wrap="square" anchor="ctr" lIns="0" rIns="0" tIns="0" bIns="0">
            <a:spAutoFit/>
          </a:bodyPr>
          <a:lstStyle/>
          <a:p>
            <a:pPr algn="l">
              <a:lnSpc>
                <a:spcPct val="105000"/>
              </a:lnSpc>
            </a:pPr>
            <a:r>
              <a:rPr sz="1250" b="1" i="0">
                <a:solidFill>
                  <a:srgbClr val="FFFFFF"/>
                </a:solidFill>
                <a:latin typeface="Segoe UI"/>
              </a:rPr>
              <a:t>Large furniture / e-commerce entrants</a:t>
            </a:r>
          </a:p>
        </p:txBody>
      </p:sp>
      <p:sp>
        <p:nvSpPr>
          <p:cNvPr id="13" name="Rectangle 12"/>
          <p:cNvSpPr/>
          <p:nvPr/>
        </p:nvSpPr>
        <p:spPr>
          <a:xfrm>
            <a:off x="3291840" y="2148840"/>
            <a:ext cx="8503920" cy="914400"/>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2148840"/>
            <a:ext cx="8138160" cy="914400"/>
          </a:xfrm>
          <a:prstGeom prst="rect">
            <a:avLst/>
          </a:prstGeom>
          <a:noFill/>
        </p:spPr>
        <p:txBody>
          <a:bodyPr wrap="square" anchor="ctr" lIns="0" rIns="0" tIns="0" bIns="0">
            <a:spAutoFit/>
          </a:bodyPr>
          <a:lstStyle/>
          <a:p>
            <a:pPr algn="l">
              <a:lnSpc>
                <a:spcPct val="115000"/>
              </a:lnSpc>
            </a:pPr>
            <a:r>
              <a:rPr sz="1200" b="0" i="1">
                <a:solidFill>
                  <a:srgbClr val="22222A"/>
                </a:solidFill>
                <a:latin typeface="Segoe UI"/>
              </a:rPr>
              <a:t>Capital, brand reach, existing logistics networks.</a:t>
            </a:r>
          </a:p>
        </p:txBody>
      </p:sp>
      <p:sp>
        <p:nvSpPr>
          <p:cNvPr id="15" name="Rounded Rectangle 14"/>
          <p:cNvSpPr/>
          <p:nvPr/>
        </p:nvSpPr>
        <p:spPr>
          <a:xfrm>
            <a:off x="365760" y="3291840"/>
            <a:ext cx="2743200" cy="914400"/>
          </a:xfrm>
          <a:prstGeom prst="roundRect">
            <a:avLst/>
          </a:prstGeom>
          <a:solidFill>
            <a:srgbClr val="1B7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291840"/>
            <a:ext cx="2468880" cy="914400"/>
          </a:xfrm>
          <a:prstGeom prst="rect">
            <a:avLst/>
          </a:prstGeom>
          <a:noFill/>
        </p:spPr>
        <p:txBody>
          <a:bodyPr wrap="square" anchor="ctr" lIns="0" rIns="0" tIns="0" bIns="0">
            <a:spAutoFit/>
          </a:bodyPr>
          <a:lstStyle/>
          <a:p>
            <a:pPr algn="l">
              <a:lnSpc>
                <a:spcPct val="105000"/>
              </a:lnSpc>
            </a:pPr>
            <a:r>
              <a:rPr sz="1250" b="1" i="0">
                <a:solidFill>
                  <a:srgbClr val="FFFFFF"/>
                </a:solidFill>
                <a:latin typeface="Segoe UI"/>
              </a:rPr>
              <a:t>RentOS condition + usage dataset</a:t>
            </a:r>
          </a:p>
        </p:txBody>
      </p:sp>
      <p:sp>
        <p:nvSpPr>
          <p:cNvPr id="17" name="Rectangle 16"/>
          <p:cNvSpPr/>
          <p:nvPr/>
        </p:nvSpPr>
        <p:spPr>
          <a:xfrm>
            <a:off x="3291840" y="3291840"/>
            <a:ext cx="8503920" cy="914400"/>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0" y="3291840"/>
            <a:ext cx="8138160" cy="914400"/>
          </a:xfrm>
          <a:prstGeom prst="rect">
            <a:avLst/>
          </a:prstGeom>
          <a:noFill/>
        </p:spPr>
        <p:txBody>
          <a:bodyPr wrap="square" anchor="ctr" lIns="0" rIns="0" tIns="0" bIns="0">
            <a:spAutoFit/>
          </a:bodyPr>
          <a:lstStyle/>
          <a:p>
            <a:pPr algn="l">
              <a:lnSpc>
                <a:spcPct val="115000"/>
              </a:lnSpc>
            </a:pPr>
            <a:r>
              <a:rPr sz="1200" b="0" i="1">
                <a:solidFill>
                  <a:srgbClr val="22222A"/>
                </a:solidFill>
                <a:latin typeface="Segoe UI"/>
              </a:rPr>
              <a:t>Knows exactly when an item will fail and what it's actually worth used — compounds with every rental and can't be bought or copied overnight.</a:t>
            </a:r>
          </a:p>
        </p:txBody>
      </p:sp>
      <p:sp>
        <p:nvSpPr>
          <p:cNvPr id="19" name="TextBox 18"/>
          <p:cNvSpPr txBox="1"/>
          <p:nvPr/>
        </p:nvSpPr>
        <p:spPr>
          <a:xfrm>
            <a:off x="365760" y="4572000"/>
            <a:ext cx="11430000" cy="320040"/>
          </a:xfrm>
          <a:prstGeom prst="rect">
            <a:avLst/>
          </a:prstGeom>
          <a:noFill/>
        </p:spPr>
        <p:txBody>
          <a:bodyPr wrap="square" anchor="t" lIns="0" rIns="0" tIns="0" bIns="0">
            <a:spAutoFit/>
          </a:bodyPr>
          <a:lstStyle/>
          <a:p>
            <a:pPr algn="l">
              <a:lnSpc>
                <a:spcPct val="100000"/>
              </a:lnSpc>
            </a:pPr>
            <a:r>
              <a:rPr sz="1400" b="1" i="0">
                <a:solidFill>
                  <a:srgbClr val="5E4198"/>
                </a:solidFill>
                <a:latin typeface="Century Gothic"/>
              </a:rPr>
              <a:t>Where This Data Pays Off Beyond Cost Savings</a:t>
            </a:r>
          </a:p>
        </p:txBody>
      </p:sp>
      <p:sp>
        <p:nvSpPr>
          <p:cNvPr id="20" name="TextBox 19"/>
          <p:cNvSpPr txBox="1"/>
          <p:nvPr/>
        </p:nvSpPr>
        <p:spPr>
          <a:xfrm>
            <a:off x="365760" y="4983480"/>
            <a:ext cx="11430000" cy="1371600"/>
          </a:xfrm>
          <a:prstGeom prst="rect">
            <a:avLst/>
          </a:prstGeom>
          <a:noFill/>
        </p:spPr>
        <p:txBody>
          <a:bodyPr wrap="square" lIns="0" rIns="0" tIns="0" bIns="0">
            <a:spAutoFit/>
          </a:bodyPr>
          <a:lstStyle/>
          <a:p>
            <a:pPr>
              <a:lnSpc>
                <a:spcPct val="105000"/>
              </a:lnSpc>
              <a:spcAft>
                <a:spcPts val="800"/>
              </a:spcAft>
            </a:pPr>
            <a:r>
              <a:rPr sz="1200">
                <a:solidFill>
                  <a:srgbClr val="E06A1F"/>
                </a:solidFill>
                <a:latin typeface="Segoe UI"/>
              </a:rPr>
              <a:t>●  </a:t>
            </a:r>
            <a:r>
              <a:rPr sz="1200" b="1" i="1">
                <a:solidFill>
                  <a:srgbClr val="0B2447"/>
                </a:solidFill>
                <a:latin typeface="Segoe UI"/>
              </a:rPr>
              <a:t>Dynamic, risk-based deposits:  </a:t>
            </a:r>
            <a:r>
              <a:rPr sz="1200" i="1">
                <a:solidFill>
                  <a:srgbClr val="22222A"/>
                </a:solidFill>
                <a:latin typeface="Segoe UI"/>
              </a:rPr>
              <a:t>lower deposits for reliably-returned categories, building trust and conversion instead of friction.</a:t>
            </a:r>
          </a:p>
          <a:p>
            <a:pPr>
              <a:lnSpc>
                <a:spcPct val="105000"/>
              </a:lnSpc>
              <a:spcAft>
                <a:spcPts val="800"/>
              </a:spcAft>
            </a:pPr>
            <a:r>
              <a:rPr sz="1200">
                <a:solidFill>
                  <a:srgbClr val="E06A1F"/>
                </a:solidFill>
                <a:latin typeface="Segoe UI"/>
              </a:rPr>
              <a:t>●  </a:t>
            </a:r>
            <a:r>
              <a:rPr sz="1200" b="1" i="1">
                <a:solidFill>
                  <a:srgbClr val="0B2447"/>
                </a:solidFill>
                <a:latin typeface="Segoe UI"/>
              </a:rPr>
              <a:t>A future B2B data product:  </a:t>
            </a:r>
            <a:r>
              <a:rPr sz="1200" i="1">
                <a:solidFill>
                  <a:srgbClr val="22222A"/>
                </a:solidFill>
                <a:latin typeface="Segoe UI"/>
              </a:rPr>
              <a:t>resale-value and depreciation curves become licensable insight for insurers or manufacturers — optionality, not a Year-1 commitment.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6400800" cy="566928"/>
          </a:xfrm>
          <a:prstGeom prst="rect">
            <a:avLst/>
          </a:prstGeom>
          <a:noFill/>
        </p:spPr>
        <p:txBody>
          <a:bodyPr wrap="square" anchor="ctr" lIns="0" rIns="0" tIns="0" bIns="0">
            <a:spAutoFit/>
          </a:bodyPr>
          <a:lstStyle/>
          <a:p>
            <a:pPr algn="l">
              <a:lnSpc>
                <a:spcPct val="100000"/>
              </a:lnSpc>
            </a:pPr>
            <a:r>
              <a:rPr sz="1300" b="1" i="0">
                <a:solidFill>
                  <a:srgbClr val="FFFFFF"/>
                </a:solidFill>
                <a:latin typeface="Segoe UI"/>
              </a:rPr>
              <a:t>RENTEASE — SCALING STRATEGY</a:t>
            </a:r>
          </a:p>
        </p:txBody>
      </p:sp>
      <p:sp>
        <p:nvSpPr>
          <p:cNvPr id="4" name="TextBox 3"/>
          <p:cNvSpPr txBox="1"/>
          <p:nvPr/>
        </p:nvSpPr>
        <p:spPr>
          <a:xfrm>
            <a:off x="8168335" y="0"/>
            <a:ext cx="3657600" cy="566928"/>
          </a:xfrm>
          <a:prstGeom prst="rect">
            <a:avLst/>
          </a:prstGeom>
          <a:noFill/>
        </p:spPr>
        <p:txBody>
          <a:bodyPr wrap="square" anchor="ctr" lIns="0" rIns="0" tIns="0" bIns="0">
            <a:spAutoFit/>
          </a:bodyPr>
          <a:lstStyle/>
          <a:p>
            <a:pPr algn="r">
              <a:lnSpc>
                <a:spcPct val="100000"/>
              </a:lnSpc>
            </a:pPr>
            <a:r>
              <a:rPr sz="1200" b="0" i="1">
                <a:solidFill>
                  <a:srgbClr val="E8E8EC"/>
                </a:solidFill>
                <a:latin typeface="Segoe UI"/>
              </a:rPr>
              <a:t>CTO Case Study Response</a:t>
            </a:r>
          </a:p>
        </p:txBody>
      </p:sp>
      <p:sp>
        <p:nvSpPr>
          <p:cNvPr id="5" name="Rectangle 4"/>
          <p:cNvSpPr/>
          <p:nvPr/>
        </p:nvSpPr>
        <p:spPr>
          <a:xfrm>
            <a:off x="0" y="566928"/>
            <a:ext cx="12191695" cy="54864"/>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75704"/>
            <a:ext cx="12191695" cy="82296"/>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77295" y="6473952"/>
            <a:ext cx="640080" cy="274320"/>
          </a:xfrm>
          <a:prstGeom prst="rect">
            <a:avLst/>
          </a:prstGeom>
          <a:noFill/>
        </p:spPr>
        <p:txBody>
          <a:bodyPr wrap="square" anchor="t" lIns="0" rIns="0" tIns="0" bIns="0">
            <a:spAutoFit/>
          </a:bodyPr>
          <a:lstStyle/>
          <a:p>
            <a:pPr algn="r">
              <a:lnSpc>
                <a:spcPct val="100000"/>
              </a:lnSpc>
            </a:pPr>
            <a:r>
              <a:rPr sz="1100" b="1" i="0">
                <a:solidFill>
                  <a:srgbClr val="0B2447"/>
                </a:solidFill>
                <a:latin typeface="Segoe UI"/>
              </a:rPr>
              <a:t>7</a:t>
            </a:r>
          </a:p>
        </p:txBody>
      </p:sp>
      <p:sp>
        <p:nvSpPr>
          <p:cNvPr id="8" name="TextBox 7"/>
          <p:cNvSpPr txBox="1"/>
          <p:nvPr/>
        </p:nvSpPr>
        <p:spPr>
          <a:xfrm>
            <a:off x="365760" y="658368"/>
            <a:ext cx="10515600" cy="274320"/>
          </a:xfrm>
          <a:prstGeom prst="rect">
            <a:avLst/>
          </a:prstGeom>
          <a:noFill/>
        </p:spPr>
        <p:txBody>
          <a:bodyPr wrap="square" anchor="t" lIns="0" rIns="0" tIns="0" bIns="0">
            <a:spAutoFit/>
          </a:bodyPr>
          <a:lstStyle/>
          <a:p>
            <a:pPr algn="l">
              <a:lnSpc>
                <a:spcPct val="100000"/>
              </a:lnSpc>
            </a:pPr>
            <a:r>
              <a:rPr sz="1150" b="1" i="0">
                <a:solidFill>
                  <a:srgbClr val="E06A1F"/>
                </a:solidFill>
                <a:latin typeface="Segoe UI"/>
              </a:rPr>
              <a:t>EXECUTION</a:t>
            </a:r>
          </a:p>
        </p:txBody>
      </p:sp>
      <p:sp>
        <p:nvSpPr>
          <p:cNvPr id="9" name="TextBox 8"/>
          <p:cNvSpPr txBox="1"/>
          <p:nvPr/>
        </p:nvSpPr>
        <p:spPr>
          <a:xfrm>
            <a:off x="365760" y="914400"/>
            <a:ext cx="11430000" cy="502920"/>
          </a:xfrm>
          <a:prstGeom prst="rect">
            <a:avLst/>
          </a:prstGeom>
          <a:noFill/>
        </p:spPr>
        <p:txBody>
          <a:bodyPr wrap="square" anchor="t" lIns="0" rIns="0" tIns="0" bIns="0">
            <a:spAutoFit/>
          </a:bodyPr>
          <a:lstStyle/>
          <a:p>
            <a:pPr algn="l">
              <a:lnSpc>
                <a:spcPct val="100000"/>
              </a:lnSpc>
            </a:pPr>
            <a:r>
              <a:rPr sz="2300" b="1" i="0">
                <a:solidFill>
                  <a:srgbClr val="0B2447"/>
                </a:solidFill>
                <a:latin typeface="Century Gothic"/>
              </a:rPr>
              <a:t>What Ships First, and the Number Behind It</a:t>
            </a:r>
          </a:p>
        </p:txBody>
      </p:sp>
      <p:sp>
        <p:nvSpPr>
          <p:cNvPr id="10" name="Rounded Rectangle 9"/>
          <p:cNvSpPr/>
          <p:nvPr/>
        </p:nvSpPr>
        <p:spPr>
          <a:xfrm>
            <a:off x="365760" y="1463040"/>
            <a:ext cx="3611880" cy="502920"/>
          </a:xfrm>
          <a:prstGeom prst="roundRect">
            <a:avLst/>
          </a:prstGeom>
          <a:solidFill>
            <a:srgbClr val="1B7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463040"/>
            <a:ext cx="3611880" cy="502920"/>
          </a:xfrm>
          <a:prstGeom prst="rect">
            <a:avLst/>
          </a:prstGeom>
          <a:noFill/>
        </p:spPr>
        <p:txBody>
          <a:bodyPr wrap="square" anchor="ctr" lIns="0" rIns="0" tIns="0" bIns="0">
            <a:spAutoFit/>
          </a:bodyPr>
          <a:lstStyle/>
          <a:p>
            <a:pPr algn="ctr">
              <a:lnSpc>
                <a:spcPct val="100000"/>
              </a:lnSpc>
            </a:pPr>
            <a:r>
              <a:rPr sz="1450" b="1" i="0">
                <a:solidFill>
                  <a:srgbClr val="FFFFFF"/>
                </a:solidFill>
                <a:latin typeface="Century Gothic"/>
              </a:rPr>
              <a:t>Phase 1 — Now</a:t>
            </a:r>
          </a:p>
        </p:txBody>
      </p:sp>
      <p:sp>
        <p:nvSpPr>
          <p:cNvPr id="12" name="Rectangle 11"/>
          <p:cNvSpPr/>
          <p:nvPr/>
        </p:nvSpPr>
        <p:spPr>
          <a:xfrm>
            <a:off x="365760" y="2057400"/>
            <a:ext cx="3611880" cy="1874519"/>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2194560"/>
            <a:ext cx="3282696" cy="594360"/>
          </a:xfrm>
          <a:prstGeom prst="rect">
            <a:avLst/>
          </a:prstGeom>
          <a:noFill/>
        </p:spPr>
        <p:txBody>
          <a:bodyPr wrap="square" anchor="t" lIns="0" rIns="0" tIns="0" bIns="0">
            <a:spAutoFit/>
          </a:bodyPr>
          <a:lstStyle/>
          <a:p>
            <a:pPr algn="l">
              <a:lnSpc>
                <a:spcPct val="110000"/>
              </a:lnSpc>
            </a:pPr>
            <a:r>
              <a:rPr sz="1100" b="0" i="1">
                <a:solidFill>
                  <a:srgbClr val="22222A"/>
                </a:solidFill>
                <a:latin typeface="Segoe UI"/>
              </a:rPr>
              <a:t>•  Asset tags + condition capture</a:t>
            </a:r>
          </a:p>
        </p:txBody>
      </p:sp>
      <p:sp>
        <p:nvSpPr>
          <p:cNvPr id="14" name="TextBox 13"/>
          <p:cNvSpPr txBox="1"/>
          <p:nvPr/>
        </p:nvSpPr>
        <p:spPr>
          <a:xfrm>
            <a:off x="530352" y="2743200"/>
            <a:ext cx="3282696" cy="594360"/>
          </a:xfrm>
          <a:prstGeom prst="rect">
            <a:avLst/>
          </a:prstGeom>
          <a:noFill/>
        </p:spPr>
        <p:txBody>
          <a:bodyPr wrap="square" anchor="t" lIns="0" rIns="0" tIns="0" bIns="0">
            <a:spAutoFit/>
          </a:bodyPr>
          <a:lstStyle/>
          <a:p>
            <a:pPr algn="l">
              <a:lnSpc>
                <a:spcPct val="110000"/>
              </a:lnSpc>
            </a:pPr>
            <a:r>
              <a:rPr sz="1100" b="0" i="1">
                <a:solidFill>
                  <a:srgbClr val="22222A"/>
                </a:solidFill>
                <a:latin typeface="Segoe UI"/>
              </a:rPr>
              <a:t>•  Live in existing 2 cities</a:t>
            </a:r>
          </a:p>
        </p:txBody>
      </p:sp>
      <p:sp>
        <p:nvSpPr>
          <p:cNvPr id="15" name="TextBox 14"/>
          <p:cNvSpPr txBox="1"/>
          <p:nvPr/>
        </p:nvSpPr>
        <p:spPr>
          <a:xfrm>
            <a:off x="530352" y="3291840"/>
            <a:ext cx="3282696" cy="594360"/>
          </a:xfrm>
          <a:prstGeom prst="rect">
            <a:avLst/>
          </a:prstGeom>
          <a:noFill/>
        </p:spPr>
        <p:txBody>
          <a:bodyPr wrap="square" anchor="t" lIns="0" rIns="0" tIns="0" bIns="0">
            <a:spAutoFit/>
          </a:bodyPr>
          <a:lstStyle/>
          <a:p>
            <a:pPr algn="l">
              <a:lnSpc>
                <a:spcPct val="110000"/>
              </a:lnSpc>
            </a:pPr>
            <a:r>
              <a:rPr sz="1100" b="0" i="1">
                <a:solidFill>
                  <a:srgbClr val="22222A"/>
                </a:solidFill>
                <a:latin typeface="Segoe UI"/>
              </a:rPr>
              <a:t>•  Generates the dataset everything else depends on</a:t>
            </a:r>
          </a:p>
        </p:txBody>
      </p:sp>
      <p:sp>
        <p:nvSpPr>
          <p:cNvPr id="16" name="TextBox 15"/>
          <p:cNvSpPr txBox="1"/>
          <p:nvPr/>
        </p:nvSpPr>
        <p:spPr>
          <a:xfrm>
            <a:off x="3977640" y="1463040"/>
            <a:ext cx="320040" cy="502920"/>
          </a:xfrm>
          <a:prstGeom prst="rect">
            <a:avLst/>
          </a:prstGeom>
          <a:noFill/>
        </p:spPr>
        <p:txBody>
          <a:bodyPr wrap="square" anchor="ctr" lIns="0" rIns="0" tIns="0" bIns="0">
            <a:spAutoFit/>
          </a:bodyPr>
          <a:lstStyle/>
          <a:p>
            <a:pPr algn="ctr">
              <a:lnSpc>
                <a:spcPct val="100000"/>
              </a:lnSpc>
            </a:pPr>
            <a:r>
              <a:rPr sz="1800" b="1" i="0">
                <a:solidFill>
                  <a:srgbClr val="5B6472"/>
                </a:solidFill>
                <a:latin typeface="Segoe UI"/>
              </a:rPr>
              <a:t>→</a:t>
            </a:r>
          </a:p>
        </p:txBody>
      </p:sp>
      <p:sp>
        <p:nvSpPr>
          <p:cNvPr id="17" name="Rounded Rectangle 16"/>
          <p:cNvSpPr/>
          <p:nvPr/>
        </p:nvSpPr>
        <p:spPr>
          <a:xfrm>
            <a:off x="4297680" y="1463040"/>
            <a:ext cx="3611880" cy="502920"/>
          </a:xfrm>
          <a:prstGeom prst="roundRect">
            <a:avLst/>
          </a:prstGeom>
          <a:solidFill>
            <a:srgbClr val="E06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80" y="1463040"/>
            <a:ext cx="3611880" cy="502920"/>
          </a:xfrm>
          <a:prstGeom prst="rect">
            <a:avLst/>
          </a:prstGeom>
          <a:noFill/>
        </p:spPr>
        <p:txBody>
          <a:bodyPr wrap="square" anchor="ctr" lIns="0" rIns="0" tIns="0" bIns="0">
            <a:spAutoFit/>
          </a:bodyPr>
          <a:lstStyle/>
          <a:p>
            <a:pPr algn="ctr">
              <a:lnSpc>
                <a:spcPct val="100000"/>
              </a:lnSpc>
            </a:pPr>
            <a:r>
              <a:rPr sz="1450" b="1" i="0">
                <a:solidFill>
                  <a:srgbClr val="FFFFFF"/>
                </a:solidFill>
                <a:latin typeface="Century Gothic"/>
              </a:rPr>
              <a:t>Phase 2 — 6-12 mo.</a:t>
            </a:r>
          </a:p>
        </p:txBody>
      </p:sp>
      <p:sp>
        <p:nvSpPr>
          <p:cNvPr id="19" name="Rectangle 18"/>
          <p:cNvSpPr/>
          <p:nvPr/>
        </p:nvSpPr>
        <p:spPr>
          <a:xfrm>
            <a:off x="4297680" y="2057400"/>
            <a:ext cx="3611880" cy="1874519"/>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62272" y="2194560"/>
            <a:ext cx="3282696" cy="594360"/>
          </a:xfrm>
          <a:prstGeom prst="rect">
            <a:avLst/>
          </a:prstGeom>
          <a:noFill/>
        </p:spPr>
        <p:txBody>
          <a:bodyPr wrap="square" anchor="t" lIns="0" rIns="0" tIns="0" bIns="0">
            <a:spAutoFit/>
          </a:bodyPr>
          <a:lstStyle/>
          <a:p>
            <a:pPr algn="l">
              <a:lnSpc>
                <a:spcPct val="110000"/>
              </a:lnSpc>
            </a:pPr>
            <a:r>
              <a:rPr sz="1100" b="0" i="1">
                <a:solidFill>
                  <a:srgbClr val="22222A"/>
                </a:solidFill>
                <a:latin typeface="Segoe UI"/>
              </a:rPr>
              <a:t>•  Route optimization</a:t>
            </a:r>
          </a:p>
        </p:txBody>
      </p:sp>
      <p:sp>
        <p:nvSpPr>
          <p:cNvPr id="21" name="TextBox 20"/>
          <p:cNvSpPr txBox="1"/>
          <p:nvPr/>
        </p:nvSpPr>
        <p:spPr>
          <a:xfrm>
            <a:off x="4462272" y="2743200"/>
            <a:ext cx="3282696" cy="594360"/>
          </a:xfrm>
          <a:prstGeom prst="rect">
            <a:avLst/>
          </a:prstGeom>
          <a:noFill/>
        </p:spPr>
        <p:txBody>
          <a:bodyPr wrap="square" anchor="t" lIns="0" rIns="0" tIns="0" bIns="0">
            <a:spAutoFit/>
          </a:bodyPr>
          <a:lstStyle/>
          <a:p>
            <a:pPr algn="l">
              <a:lnSpc>
                <a:spcPct val="110000"/>
              </a:lnSpc>
            </a:pPr>
            <a:r>
              <a:rPr sz="1100" b="0" i="1">
                <a:solidFill>
                  <a:srgbClr val="22222A"/>
                </a:solidFill>
                <a:latin typeface="Segoe UI"/>
              </a:rPr>
              <a:t>•  Predictive maintenance scheduling</a:t>
            </a:r>
          </a:p>
        </p:txBody>
      </p:sp>
      <p:sp>
        <p:nvSpPr>
          <p:cNvPr id="22" name="TextBox 21"/>
          <p:cNvSpPr txBox="1"/>
          <p:nvPr/>
        </p:nvSpPr>
        <p:spPr>
          <a:xfrm>
            <a:off x="4462272" y="3291840"/>
            <a:ext cx="3282696" cy="594360"/>
          </a:xfrm>
          <a:prstGeom prst="rect">
            <a:avLst/>
          </a:prstGeom>
          <a:noFill/>
        </p:spPr>
        <p:txBody>
          <a:bodyPr wrap="square" anchor="t" lIns="0" rIns="0" tIns="0" bIns="0">
            <a:spAutoFit/>
          </a:bodyPr>
          <a:lstStyle/>
          <a:p>
            <a:pPr algn="l">
              <a:lnSpc>
                <a:spcPct val="110000"/>
              </a:lnSpc>
            </a:pPr>
            <a:r>
              <a:rPr sz="1100" b="0" i="1">
                <a:solidFill>
                  <a:srgbClr val="22222A"/>
                </a:solidFill>
                <a:latin typeface="Segoe UI"/>
              </a:rPr>
              <a:t>•  Cost-per-order starts declining, not rising</a:t>
            </a:r>
          </a:p>
        </p:txBody>
      </p:sp>
      <p:sp>
        <p:nvSpPr>
          <p:cNvPr id="23" name="TextBox 22"/>
          <p:cNvSpPr txBox="1"/>
          <p:nvPr/>
        </p:nvSpPr>
        <p:spPr>
          <a:xfrm>
            <a:off x="7909560" y="1463040"/>
            <a:ext cx="320040" cy="502920"/>
          </a:xfrm>
          <a:prstGeom prst="rect">
            <a:avLst/>
          </a:prstGeom>
          <a:noFill/>
        </p:spPr>
        <p:txBody>
          <a:bodyPr wrap="square" anchor="ctr" lIns="0" rIns="0" tIns="0" bIns="0">
            <a:spAutoFit/>
          </a:bodyPr>
          <a:lstStyle/>
          <a:p>
            <a:pPr algn="ctr">
              <a:lnSpc>
                <a:spcPct val="100000"/>
              </a:lnSpc>
            </a:pPr>
            <a:r>
              <a:rPr sz="1800" b="1" i="0">
                <a:solidFill>
                  <a:srgbClr val="5B6472"/>
                </a:solidFill>
                <a:latin typeface="Segoe UI"/>
              </a:rPr>
              <a:t>→</a:t>
            </a:r>
          </a:p>
        </p:txBody>
      </p:sp>
      <p:sp>
        <p:nvSpPr>
          <p:cNvPr id="24" name="Rounded Rectangle 23"/>
          <p:cNvSpPr/>
          <p:nvPr/>
        </p:nvSpPr>
        <p:spPr>
          <a:xfrm>
            <a:off x="8229600" y="1463040"/>
            <a:ext cx="3611880" cy="502920"/>
          </a:xfrm>
          <a:prstGeom prst="roundRect">
            <a:avLst/>
          </a:prstGeom>
          <a:solidFill>
            <a:srgbClr val="5E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0" y="1463040"/>
            <a:ext cx="3611880" cy="502920"/>
          </a:xfrm>
          <a:prstGeom prst="rect">
            <a:avLst/>
          </a:prstGeom>
          <a:noFill/>
        </p:spPr>
        <p:txBody>
          <a:bodyPr wrap="square" anchor="ctr" lIns="0" rIns="0" tIns="0" bIns="0">
            <a:spAutoFit/>
          </a:bodyPr>
          <a:lstStyle/>
          <a:p>
            <a:pPr algn="ctr">
              <a:lnSpc>
                <a:spcPct val="100000"/>
              </a:lnSpc>
            </a:pPr>
            <a:r>
              <a:rPr sz="1450" b="1" i="0">
                <a:solidFill>
                  <a:srgbClr val="FFFFFF"/>
                </a:solidFill>
                <a:latin typeface="Century Gothic"/>
              </a:rPr>
              <a:t>Phase 3 — New Cities</a:t>
            </a:r>
          </a:p>
        </p:txBody>
      </p:sp>
      <p:sp>
        <p:nvSpPr>
          <p:cNvPr id="26" name="Rectangle 25"/>
          <p:cNvSpPr/>
          <p:nvPr/>
        </p:nvSpPr>
        <p:spPr>
          <a:xfrm>
            <a:off x="8229600" y="2057400"/>
            <a:ext cx="3611880" cy="1874519"/>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94192" y="2194560"/>
            <a:ext cx="3282696" cy="594360"/>
          </a:xfrm>
          <a:prstGeom prst="rect">
            <a:avLst/>
          </a:prstGeom>
          <a:noFill/>
        </p:spPr>
        <p:txBody>
          <a:bodyPr wrap="square" anchor="t" lIns="0" rIns="0" tIns="0" bIns="0">
            <a:spAutoFit/>
          </a:bodyPr>
          <a:lstStyle/>
          <a:p>
            <a:pPr algn="l">
              <a:lnSpc>
                <a:spcPct val="110000"/>
              </a:lnSpc>
            </a:pPr>
            <a:r>
              <a:rPr sz="1100" b="0" i="1">
                <a:solidFill>
                  <a:srgbClr val="22222A"/>
                </a:solidFill>
                <a:latin typeface="Segoe UI"/>
              </a:rPr>
              <a:t>•  Partner-technician network app</a:t>
            </a:r>
          </a:p>
        </p:txBody>
      </p:sp>
      <p:sp>
        <p:nvSpPr>
          <p:cNvPr id="28" name="TextBox 27"/>
          <p:cNvSpPr txBox="1"/>
          <p:nvPr/>
        </p:nvSpPr>
        <p:spPr>
          <a:xfrm>
            <a:off x="8394192" y="2743200"/>
            <a:ext cx="3282696" cy="594360"/>
          </a:xfrm>
          <a:prstGeom prst="rect">
            <a:avLst/>
          </a:prstGeom>
          <a:noFill/>
        </p:spPr>
        <p:txBody>
          <a:bodyPr wrap="square" anchor="t" lIns="0" rIns="0" tIns="0" bIns="0">
            <a:spAutoFit/>
          </a:bodyPr>
          <a:lstStyle/>
          <a:p>
            <a:pPr algn="l">
              <a:lnSpc>
                <a:spcPct val="110000"/>
              </a:lnSpc>
            </a:pPr>
            <a:r>
              <a:rPr sz="1100" b="0" i="1">
                <a:solidFill>
                  <a:srgbClr val="22222A"/>
                </a:solidFill>
                <a:latin typeface="Segoe UI"/>
              </a:rPr>
              <a:t>•  Asset-light entry per new city</a:t>
            </a:r>
          </a:p>
        </p:txBody>
      </p:sp>
      <p:sp>
        <p:nvSpPr>
          <p:cNvPr id="29" name="TextBox 28"/>
          <p:cNvSpPr txBox="1"/>
          <p:nvPr/>
        </p:nvSpPr>
        <p:spPr>
          <a:xfrm>
            <a:off x="8394192" y="3291840"/>
            <a:ext cx="3282696" cy="594360"/>
          </a:xfrm>
          <a:prstGeom prst="rect">
            <a:avLst/>
          </a:prstGeom>
          <a:noFill/>
        </p:spPr>
        <p:txBody>
          <a:bodyPr wrap="square" anchor="t" lIns="0" rIns="0" tIns="0" bIns="0">
            <a:spAutoFit/>
          </a:bodyPr>
          <a:lstStyle/>
          <a:p>
            <a:pPr algn="l">
              <a:lnSpc>
                <a:spcPct val="110000"/>
              </a:lnSpc>
            </a:pPr>
            <a:r>
              <a:rPr sz="1100" b="0" i="1">
                <a:solidFill>
                  <a:srgbClr val="22222A"/>
                </a:solidFill>
                <a:latin typeface="Segoe UI"/>
              </a:rPr>
              <a:t>•  RentOS licensed to each new market, not rebuilt</a:t>
            </a:r>
          </a:p>
        </p:txBody>
      </p:sp>
      <p:sp>
        <p:nvSpPr>
          <p:cNvPr id="30" name="TextBox 29"/>
          <p:cNvSpPr txBox="1"/>
          <p:nvPr/>
        </p:nvSpPr>
        <p:spPr>
          <a:xfrm>
            <a:off x="365760" y="4206240"/>
            <a:ext cx="11430000" cy="320040"/>
          </a:xfrm>
          <a:prstGeom prst="rect">
            <a:avLst/>
          </a:prstGeom>
          <a:noFill/>
        </p:spPr>
        <p:txBody>
          <a:bodyPr wrap="square" anchor="t" lIns="0" rIns="0" tIns="0" bIns="0">
            <a:spAutoFit/>
          </a:bodyPr>
          <a:lstStyle/>
          <a:p>
            <a:pPr algn="l">
              <a:lnSpc>
                <a:spcPct val="100000"/>
              </a:lnSpc>
            </a:pPr>
            <a:r>
              <a:rPr sz="1400" b="1" i="0">
                <a:solidFill>
                  <a:srgbClr val="0B2447"/>
                </a:solidFill>
                <a:latin typeface="Century Gothic"/>
              </a:rPr>
              <a:t>Illustrative Impact (Assumptions Stated)</a:t>
            </a:r>
          </a:p>
        </p:txBody>
      </p:sp>
      <p:sp>
        <p:nvSpPr>
          <p:cNvPr id="31" name="TextBox 30"/>
          <p:cNvSpPr txBox="1"/>
          <p:nvPr/>
        </p:nvSpPr>
        <p:spPr>
          <a:xfrm>
            <a:off x="365760" y="4617720"/>
            <a:ext cx="11430000" cy="1463040"/>
          </a:xfrm>
          <a:prstGeom prst="rect">
            <a:avLst/>
          </a:prstGeom>
          <a:noFill/>
        </p:spPr>
        <p:txBody>
          <a:bodyPr wrap="square" anchor="t" lIns="0" rIns="0" tIns="0" bIns="0">
            <a:spAutoFit/>
          </a:bodyPr>
          <a:lstStyle/>
          <a:p>
            <a:pPr algn="l">
              <a:lnSpc>
                <a:spcPct val="125000"/>
              </a:lnSpc>
            </a:pPr>
            <a:r>
              <a:rPr sz="1250" b="0" i="1">
                <a:solidFill>
                  <a:srgbClr val="22222A"/>
                </a:solidFill>
                <a:latin typeface="Segoe UI"/>
              </a:rPr>
              <a:t>Assume damage, loss, and early-return write-offs run at roughly 4-6% of rental revenue industry-wide — a plausible range for an unsystematized ops process at RentEase's stage. If condition capture and asset tagging recover even a third of that through fewer disputes, faster loss detection, and fairer deposit resolution, that is 1-2 points of revenue funding the next city's rollout before a single new rupee of investment is spent on it. The platform pays for its own expansion.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