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3017520"/>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017520"/>
            <a:ext cx="12191695" cy="91440"/>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0" y="6748272"/>
            <a:ext cx="12191695" cy="109728"/>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777240"/>
            <a:ext cx="11094415" cy="914400"/>
          </a:xfrm>
          <a:prstGeom prst="rect">
            <a:avLst/>
          </a:prstGeom>
          <a:noFill/>
        </p:spPr>
        <p:txBody>
          <a:bodyPr wrap="square" anchor="ctr" lIns="0" rIns="0" tIns="0" bIns="0">
            <a:spAutoFit/>
          </a:bodyPr>
          <a:lstStyle/>
          <a:p>
            <a:pPr algn="ctr">
              <a:lnSpc>
                <a:spcPct val="100000"/>
              </a:lnSpc>
            </a:pPr>
            <a:r>
              <a:rPr sz="4400" b="1" i="0">
                <a:solidFill>
                  <a:srgbClr val="FFFFFF"/>
                </a:solidFill>
                <a:latin typeface="Century Gothic"/>
              </a:rPr>
              <a:t>Saving QuickBasket</a:t>
            </a:r>
          </a:p>
        </p:txBody>
      </p:sp>
      <p:sp>
        <p:nvSpPr>
          <p:cNvPr id="7" name="TextBox 6"/>
          <p:cNvSpPr txBox="1"/>
          <p:nvPr/>
        </p:nvSpPr>
        <p:spPr>
          <a:xfrm>
            <a:off x="548640" y="1709928"/>
            <a:ext cx="11094415" cy="548640"/>
          </a:xfrm>
          <a:prstGeom prst="rect">
            <a:avLst/>
          </a:prstGeom>
          <a:noFill/>
        </p:spPr>
        <p:txBody>
          <a:bodyPr wrap="square" anchor="ctr" lIns="0" rIns="0" tIns="0" bIns="0">
            <a:spAutoFit/>
          </a:bodyPr>
          <a:lstStyle/>
          <a:p>
            <a:pPr algn="ctr">
              <a:lnSpc>
                <a:spcPct val="100000"/>
              </a:lnSpc>
            </a:pPr>
            <a:r>
              <a:rPr sz="1700" b="0" i="1">
                <a:solidFill>
                  <a:srgbClr val="FF9A4D"/>
                </a:solidFill>
                <a:latin typeface="Segoe UI"/>
              </a:rPr>
              <a:t>A Technology Path to Profitability in 12 Months</a:t>
            </a:r>
          </a:p>
        </p:txBody>
      </p:sp>
      <p:sp>
        <p:nvSpPr>
          <p:cNvPr id="8" name="TextBox 7"/>
          <p:cNvSpPr txBox="1"/>
          <p:nvPr/>
        </p:nvSpPr>
        <p:spPr>
          <a:xfrm>
            <a:off x="1097280" y="3794760"/>
            <a:ext cx="10058400" cy="411480"/>
          </a:xfrm>
          <a:prstGeom prst="rect">
            <a:avLst/>
          </a:prstGeom>
          <a:noFill/>
        </p:spPr>
        <p:txBody>
          <a:bodyPr wrap="square">
            <a:spAutoFit/>
          </a:bodyPr>
          <a:lstStyle/>
          <a:p>
            <a:r>
              <a:rPr b="1" sz="1500">
                <a:solidFill>
                  <a:srgbClr val="0B2447"/>
                </a:solidFill>
                <a:latin typeface="Segoe UI"/>
              </a:rPr>
              <a:t>Perspective :  </a:t>
            </a:r>
            <a:r>
              <a:rPr i="1" sz="1500">
                <a:solidFill>
                  <a:srgbClr val="22222A"/>
                </a:solidFill>
                <a:latin typeface="Segoe UI"/>
              </a:rPr>
              <a:t>Chief Technology Officer</a:t>
            </a:r>
          </a:p>
        </p:txBody>
      </p:sp>
      <p:sp>
        <p:nvSpPr>
          <p:cNvPr id="9" name="TextBox 8"/>
          <p:cNvSpPr txBox="1"/>
          <p:nvPr/>
        </p:nvSpPr>
        <p:spPr>
          <a:xfrm>
            <a:off x="1097280" y="4251960"/>
            <a:ext cx="10058400" cy="411480"/>
          </a:xfrm>
          <a:prstGeom prst="rect">
            <a:avLst/>
          </a:prstGeom>
          <a:noFill/>
        </p:spPr>
        <p:txBody>
          <a:bodyPr wrap="square">
            <a:spAutoFit/>
          </a:bodyPr>
          <a:lstStyle/>
          <a:p>
            <a:r>
              <a:rPr b="1" sz="1500">
                <a:solidFill>
                  <a:srgbClr val="0B2447"/>
                </a:solidFill>
                <a:latin typeface="Segoe UI"/>
              </a:rPr>
              <a:t>Prepared By :  </a:t>
            </a:r>
            <a:r>
              <a:rPr i="1" sz="1500">
                <a:solidFill>
                  <a:srgbClr val="22222A"/>
                </a:solidFill>
                <a:latin typeface="Segoe UI"/>
              </a:rPr>
              <a:t>Keshav</a:t>
            </a:r>
          </a:p>
        </p:txBody>
      </p:sp>
      <p:sp>
        <p:nvSpPr>
          <p:cNvPr id="10" name="TextBox 9"/>
          <p:cNvSpPr txBox="1"/>
          <p:nvPr/>
        </p:nvSpPr>
        <p:spPr>
          <a:xfrm>
            <a:off x="1097280" y="4709160"/>
            <a:ext cx="10058400" cy="411480"/>
          </a:xfrm>
          <a:prstGeom prst="rect">
            <a:avLst/>
          </a:prstGeom>
          <a:noFill/>
        </p:spPr>
        <p:txBody>
          <a:bodyPr wrap="square">
            <a:spAutoFit/>
          </a:bodyPr>
          <a:lstStyle/>
          <a:p>
            <a:r>
              <a:rPr b="1" sz="1500">
                <a:solidFill>
                  <a:srgbClr val="0B2447"/>
                </a:solidFill>
                <a:latin typeface="Segoe UI"/>
              </a:rPr>
              <a:t>Case :  </a:t>
            </a:r>
            <a:r>
              <a:rPr i="1" sz="1500">
                <a:solidFill>
                  <a:srgbClr val="22222A"/>
                </a:solidFill>
                <a:latin typeface="Segoe UI"/>
              </a:rPr>
              <a:t>QuickBasket Leadership Case Study — 6-Month Runway</a:t>
            </a:r>
          </a:p>
        </p:txBody>
      </p:sp>
      <p:sp>
        <p:nvSpPr>
          <p:cNvPr id="11" name="Rounded Rectangle 10"/>
          <p:cNvSpPr/>
          <p:nvPr/>
        </p:nvSpPr>
        <p:spPr>
          <a:xfrm>
            <a:off x="1097280" y="5212080"/>
            <a:ext cx="6035040" cy="384048"/>
          </a:xfrm>
          <a:prstGeom prst="roundRect">
            <a:avLst/>
          </a:prstGeom>
          <a:solidFill>
            <a:srgbClr val="B33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97280" y="5212080"/>
            <a:ext cx="6035040" cy="384048"/>
          </a:xfrm>
          <a:prstGeom prst="rect">
            <a:avLst/>
          </a:prstGeom>
          <a:noFill/>
        </p:spPr>
        <p:txBody>
          <a:bodyPr wrap="square" anchor="ctr" lIns="0" rIns="0" tIns="0" bIns="0">
            <a:spAutoFit/>
          </a:bodyPr>
          <a:lstStyle/>
          <a:p>
            <a:pPr algn="ctr">
              <a:lnSpc>
                <a:spcPct val="100000"/>
              </a:lnSpc>
            </a:pPr>
            <a:r>
              <a:rPr sz="1300" b="1" i="0">
                <a:solidFill>
                  <a:srgbClr val="FFFFFF"/>
                </a:solidFill>
                <a:latin typeface="Segoe UI"/>
              </a:rPr>
              <a:t>Six months of cash runway remain.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2</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FRAMING</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The Two Levers That Are Actually Mine to Pull</a:t>
            </a:r>
          </a:p>
        </p:txBody>
      </p:sp>
      <p:sp>
        <p:nvSpPr>
          <p:cNvPr id="10" name="TextBox 9"/>
          <p:cNvSpPr txBox="1"/>
          <p:nvPr/>
        </p:nvSpPr>
        <p:spPr>
          <a:xfrm>
            <a:off x="365760" y="1371600"/>
            <a:ext cx="11430000" cy="548640"/>
          </a:xfrm>
          <a:prstGeom prst="rect">
            <a:avLst/>
          </a:prstGeom>
          <a:noFill/>
        </p:spPr>
        <p:txBody>
          <a:bodyPr wrap="square" anchor="t" lIns="0" rIns="0" tIns="0" bIns="0">
            <a:spAutoFit/>
          </a:bodyPr>
          <a:lstStyle/>
          <a:p>
            <a:pPr algn="l">
              <a:lnSpc>
                <a:spcPct val="115000"/>
              </a:lnSpc>
            </a:pPr>
            <a:r>
              <a:rPr sz="1300" b="0" i="1">
                <a:solidFill>
                  <a:srgbClr val="22222A"/>
                </a:solidFill>
                <a:latin typeface="Segoe UI"/>
              </a:rPr>
              <a:t>With six months of runway, Technology's job is not to chase growth — it's to make unit economics positive. Two of the seven challenges on the table are mine to fix directly.</a:t>
            </a:r>
          </a:p>
        </p:txBody>
      </p:sp>
      <p:sp>
        <p:nvSpPr>
          <p:cNvPr id="11" name="Rounded Rectangle 10"/>
          <p:cNvSpPr/>
          <p:nvPr/>
        </p:nvSpPr>
        <p:spPr>
          <a:xfrm>
            <a:off x="365760" y="2103120"/>
            <a:ext cx="5486400" cy="77724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48640" y="2103120"/>
            <a:ext cx="5120640" cy="777240"/>
          </a:xfrm>
          <a:prstGeom prst="rect">
            <a:avLst/>
          </a:prstGeom>
          <a:noFill/>
        </p:spPr>
        <p:txBody>
          <a:bodyPr wrap="square" anchor="ctr" lIns="0" rIns="0" tIns="0" bIns="0">
            <a:spAutoFit/>
          </a:bodyPr>
          <a:lstStyle/>
          <a:p>
            <a:pPr algn="l">
              <a:lnSpc>
                <a:spcPct val="105000"/>
              </a:lnSpc>
            </a:pPr>
            <a:r>
              <a:rPr sz="1600" b="1" i="0">
                <a:solidFill>
                  <a:srgbClr val="FFFFFF"/>
                </a:solidFill>
                <a:latin typeface="Century Gothic"/>
              </a:rPr>
              <a:t>Rising Delivery &amp;</a:t>
            </a:r>
          </a:p>
          <a:p>
            <a:pPr algn="l">
              <a:lnSpc>
                <a:spcPct val="105000"/>
              </a:lnSpc>
            </a:pPr>
            <a:r>
              <a:rPr sz="1600" b="1" i="0">
                <a:solidFill>
                  <a:srgbClr val="FFFFFF"/>
                </a:solidFill>
                <a:latin typeface="Century Gothic"/>
              </a:rPr>
              <a:t>Warehouse Cost</a:t>
            </a:r>
          </a:p>
        </p:txBody>
      </p:sp>
      <p:sp>
        <p:nvSpPr>
          <p:cNvPr id="13" name="Rectangle 12"/>
          <p:cNvSpPr/>
          <p:nvPr/>
        </p:nvSpPr>
        <p:spPr>
          <a:xfrm>
            <a:off x="365760" y="2971800"/>
            <a:ext cx="5486400" cy="13716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8640" y="3108960"/>
            <a:ext cx="5120640" cy="1097280"/>
          </a:xfrm>
          <a:prstGeom prst="rect">
            <a:avLst/>
          </a:prstGeom>
          <a:noFill/>
        </p:spPr>
        <p:txBody>
          <a:bodyPr wrap="square" anchor="t" lIns="0" rIns="0" tIns="0" bIns="0">
            <a:spAutoFit/>
          </a:bodyPr>
          <a:lstStyle/>
          <a:p>
            <a:pPr algn="l">
              <a:lnSpc>
                <a:spcPct val="120000"/>
              </a:lnSpc>
            </a:pPr>
            <a:r>
              <a:rPr sz="1200" b="0" i="1">
                <a:solidFill>
                  <a:srgbClr val="22222A"/>
                </a:solidFill>
                <a:latin typeface="Segoe UI"/>
              </a:rPr>
              <a:t>Every order costs more to fulfil than it earns — the direct, controllable half of "losing money on almost every order."</a:t>
            </a:r>
          </a:p>
        </p:txBody>
      </p:sp>
      <p:sp>
        <p:nvSpPr>
          <p:cNvPr id="15" name="Rounded Rectangle 14"/>
          <p:cNvSpPr/>
          <p:nvPr/>
        </p:nvSpPr>
        <p:spPr>
          <a:xfrm>
            <a:off x="6309360" y="2103120"/>
            <a:ext cx="5486400" cy="77724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2103120"/>
            <a:ext cx="5120640" cy="777240"/>
          </a:xfrm>
          <a:prstGeom prst="rect">
            <a:avLst/>
          </a:prstGeom>
          <a:noFill/>
        </p:spPr>
        <p:txBody>
          <a:bodyPr wrap="square" anchor="ctr" lIns="0" rIns="0" tIns="0" bIns="0">
            <a:spAutoFit/>
          </a:bodyPr>
          <a:lstStyle/>
          <a:p>
            <a:pPr algn="l">
              <a:lnSpc>
                <a:spcPct val="105000"/>
              </a:lnSpc>
            </a:pPr>
            <a:r>
              <a:rPr sz="1600" b="1" i="0">
                <a:solidFill>
                  <a:srgbClr val="FFFFFF"/>
                </a:solidFill>
                <a:latin typeface="Century Gothic"/>
              </a:rPr>
              <a:t>Discount-Only</a:t>
            </a:r>
          </a:p>
          <a:p>
            <a:pPr algn="l">
              <a:lnSpc>
                <a:spcPct val="105000"/>
              </a:lnSpc>
            </a:pPr>
            <a:r>
              <a:rPr sz="1600" b="1" i="0">
                <a:solidFill>
                  <a:srgbClr val="FFFFFF"/>
                </a:solidFill>
                <a:latin typeface="Century Gothic"/>
              </a:rPr>
              <a:t>Retention</a:t>
            </a:r>
          </a:p>
        </p:txBody>
      </p:sp>
      <p:sp>
        <p:nvSpPr>
          <p:cNvPr id="17" name="Rectangle 16"/>
          <p:cNvSpPr/>
          <p:nvPr/>
        </p:nvSpPr>
        <p:spPr>
          <a:xfrm>
            <a:off x="6309360" y="2971800"/>
            <a:ext cx="5486400" cy="137160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3108960"/>
            <a:ext cx="5120640" cy="1097280"/>
          </a:xfrm>
          <a:prstGeom prst="rect">
            <a:avLst/>
          </a:prstGeom>
          <a:noFill/>
        </p:spPr>
        <p:txBody>
          <a:bodyPr wrap="square" anchor="t" lIns="0" rIns="0" tIns="0" bIns="0">
            <a:spAutoFit/>
          </a:bodyPr>
          <a:lstStyle/>
          <a:p>
            <a:pPr algn="l">
              <a:lnSpc>
                <a:spcPct val="120000"/>
              </a:lnSpc>
            </a:pPr>
            <a:r>
              <a:rPr sz="1200" b="0" i="1">
                <a:solidFill>
                  <a:srgbClr val="22222A"/>
                </a:solidFill>
                <a:latin typeface="Segoe UI"/>
              </a:rPr>
              <a:t>Users who only return during campaigns are not loyal customers — they're rented attention, and rented attention doesn't survive a cash crunch.</a:t>
            </a:r>
          </a:p>
        </p:txBody>
      </p:sp>
      <p:sp>
        <p:nvSpPr>
          <p:cNvPr id="19" name="TextBox 18"/>
          <p:cNvSpPr txBox="1"/>
          <p:nvPr/>
        </p:nvSpPr>
        <p:spPr>
          <a:xfrm>
            <a:off x="365760" y="4572000"/>
            <a:ext cx="11430000" cy="320040"/>
          </a:xfrm>
          <a:prstGeom prst="rect">
            <a:avLst/>
          </a:prstGeom>
          <a:noFill/>
        </p:spPr>
        <p:txBody>
          <a:bodyPr wrap="square" anchor="t" lIns="0" rIns="0" tIns="0" bIns="0">
            <a:spAutoFit/>
          </a:bodyPr>
          <a:lstStyle/>
          <a:p>
            <a:pPr algn="l">
              <a:lnSpc>
                <a:spcPct val="100000"/>
              </a:lnSpc>
            </a:pPr>
            <a:r>
              <a:rPr sz="1500" b="1" i="0">
                <a:solidFill>
                  <a:srgbClr val="5E4198"/>
                </a:solidFill>
                <a:latin typeface="Century Gothic"/>
              </a:rPr>
              <a:t>Working Assumptions</a:t>
            </a:r>
          </a:p>
        </p:txBody>
      </p:sp>
      <p:sp>
        <p:nvSpPr>
          <p:cNvPr id="20" name="TextBox 19"/>
          <p:cNvSpPr txBox="1"/>
          <p:nvPr/>
        </p:nvSpPr>
        <p:spPr>
          <a:xfrm>
            <a:off x="365760" y="4983480"/>
            <a:ext cx="11430000" cy="1463040"/>
          </a:xfrm>
          <a:prstGeom prst="rect">
            <a:avLst/>
          </a:prstGeom>
          <a:noFill/>
        </p:spPr>
        <p:txBody>
          <a:bodyPr wrap="square" lIns="0" rIns="0" tIns="0" bIns="0">
            <a:spAutoFit/>
          </a:bodyPr>
          <a:lstStyle/>
          <a:p>
            <a:pPr>
              <a:lnSpc>
                <a:spcPct val="105000"/>
              </a:lnSpc>
              <a:spcAft>
                <a:spcPts val="800"/>
              </a:spcAft>
            </a:pPr>
            <a:r>
              <a:rPr sz="1250">
                <a:solidFill>
                  <a:srgbClr val="E06A1F"/>
                </a:solidFill>
                <a:latin typeface="Segoe UI"/>
              </a:rPr>
              <a:t>●  </a:t>
            </a:r>
            <a:r>
              <a:rPr sz="1250" b="1" i="1">
                <a:solidFill>
                  <a:srgbClr val="0B2447"/>
                </a:solidFill>
                <a:latin typeface="Segoe UI"/>
              </a:rPr>
              <a:t>No per-order profitability visibility today:  </a:t>
            </a:r>
            <a:r>
              <a:rPr sz="1250" i="1">
                <a:solidFill>
                  <a:srgbClr val="22222A"/>
                </a:solidFill>
                <a:latin typeface="Segoe UI"/>
              </a:rPr>
              <a:t>a 3-year-old, growth-built engineering org typically has usage and GMV dashboards, not contribution-margin dashboards.</a:t>
            </a:r>
          </a:p>
          <a:p>
            <a:pPr>
              <a:lnSpc>
                <a:spcPct val="105000"/>
              </a:lnSpc>
              <a:spcAft>
                <a:spcPts val="800"/>
              </a:spcAft>
            </a:pPr>
            <a:r>
              <a:rPr sz="1250">
                <a:solidFill>
                  <a:srgbClr val="E06A1F"/>
                </a:solidFill>
                <a:latin typeface="Segoe UI"/>
              </a:rPr>
              <a:t>●  </a:t>
            </a:r>
            <a:r>
              <a:rPr sz="1250" b="1" i="1">
                <a:solidFill>
                  <a:srgbClr val="0B2447"/>
                </a:solidFill>
                <a:latin typeface="Segoe UI"/>
              </a:rPr>
              <a:t>Engineering capacity is fixed, not growing:  </a:t>
            </a:r>
            <a:r>
              <a:rPr sz="1250" i="1">
                <a:solidFill>
                  <a:srgbClr val="22222A"/>
                </a:solidFill>
                <a:latin typeface="Segoe UI"/>
              </a:rPr>
              <a:t>every initiative below competes for the same limited team — sequencing matters as much as the ideas themselves.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3</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FIRST MOVE</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Before Cutting Anything, See Where the Money Is Actually Going</a:t>
            </a:r>
          </a:p>
        </p:txBody>
      </p:sp>
      <p:sp>
        <p:nvSpPr>
          <p:cNvPr id="10" name="TextBox 9"/>
          <p:cNvSpPr txBox="1"/>
          <p:nvPr/>
        </p:nvSpPr>
        <p:spPr>
          <a:xfrm>
            <a:off x="365760" y="1371600"/>
            <a:ext cx="11430000" cy="502920"/>
          </a:xfrm>
          <a:prstGeom prst="rect">
            <a:avLst/>
          </a:prstGeom>
          <a:noFill/>
        </p:spPr>
        <p:txBody>
          <a:bodyPr wrap="square" anchor="t" lIns="0" rIns="0" tIns="0" bIns="0">
            <a:spAutoFit/>
          </a:bodyPr>
          <a:lstStyle/>
          <a:p>
            <a:pPr algn="l">
              <a:lnSpc>
                <a:spcPct val="115000"/>
              </a:lnSpc>
            </a:pPr>
            <a:r>
              <a:rPr sz="1250" b="0" i="1">
                <a:solidFill>
                  <a:srgbClr val="22222A"/>
                </a:solidFill>
                <a:latin typeface="Segoe UI"/>
              </a:rPr>
              <a:t>Exiting cities blind is how good markets get cut and bad ones get kept. Week one deliverable: a Unit-Economics Engine that turns "we're losing money" into "we're losing ₹X per order in these 4 cities, and making money in these 3."</a:t>
            </a:r>
          </a:p>
        </p:txBody>
      </p:sp>
      <p:sp>
        <p:nvSpPr>
          <p:cNvPr id="11" name="Rounded Rectangle 10"/>
          <p:cNvSpPr/>
          <p:nvPr/>
        </p:nvSpPr>
        <p:spPr>
          <a:xfrm>
            <a:off x="365760" y="2148840"/>
            <a:ext cx="2720340" cy="1051560"/>
          </a:xfrm>
          <a:prstGeom prst="round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20624" y="2148840"/>
            <a:ext cx="2610612" cy="1051560"/>
          </a:xfrm>
          <a:prstGeom prst="rect">
            <a:avLst/>
          </a:prstGeom>
          <a:noFill/>
        </p:spPr>
        <p:txBody>
          <a:bodyPr wrap="square" anchor="ctr" lIns="0" rIns="0" tIns="0" bIns="0">
            <a:spAutoFit/>
          </a:bodyPr>
          <a:lstStyle/>
          <a:p>
            <a:pPr algn="ctr">
              <a:lnSpc>
                <a:spcPct val="105000"/>
              </a:lnSpc>
            </a:pPr>
            <a:r>
              <a:rPr sz="1200" b="1" i="0">
                <a:solidFill>
                  <a:srgbClr val="FFFFFF"/>
                </a:solidFill>
                <a:latin typeface="Segoe UI"/>
              </a:rPr>
              <a:t>Order + Delivery</a:t>
            </a:r>
          </a:p>
          <a:p>
            <a:pPr algn="ctr">
              <a:lnSpc>
                <a:spcPct val="105000"/>
              </a:lnSpc>
            </a:pPr>
            <a:r>
              <a:rPr sz="1200" b="1" i="0">
                <a:solidFill>
                  <a:srgbClr val="FFFFFF"/>
                </a:solidFill>
                <a:latin typeface="Segoe UI"/>
              </a:rPr>
              <a:t>+ Warehouse Cost</a:t>
            </a:r>
          </a:p>
          <a:p>
            <a:pPr algn="ctr">
              <a:lnSpc>
                <a:spcPct val="105000"/>
              </a:lnSpc>
            </a:pPr>
            <a:r>
              <a:rPr sz="1200" b="1" i="0">
                <a:solidFill>
                  <a:srgbClr val="FFFFFF"/>
                </a:solidFill>
                <a:latin typeface="Segoe UI"/>
              </a:rPr>
              <a:t>Data</a:t>
            </a:r>
          </a:p>
        </p:txBody>
      </p:sp>
      <p:sp>
        <p:nvSpPr>
          <p:cNvPr id="13" name="TextBox 12"/>
          <p:cNvSpPr txBox="1"/>
          <p:nvPr/>
        </p:nvSpPr>
        <p:spPr>
          <a:xfrm>
            <a:off x="3086100" y="2148840"/>
            <a:ext cx="182880" cy="105156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4" name="Rounded Rectangle 13"/>
          <p:cNvSpPr/>
          <p:nvPr/>
        </p:nvSpPr>
        <p:spPr>
          <a:xfrm>
            <a:off x="3268980" y="2148840"/>
            <a:ext cx="2720340" cy="105156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323844" y="2148840"/>
            <a:ext cx="2610612" cy="1051560"/>
          </a:xfrm>
          <a:prstGeom prst="rect">
            <a:avLst/>
          </a:prstGeom>
          <a:noFill/>
        </p:spPr>
        <p:txBody>
          <a:bodyPr wrap="square" anchor="ctr" lIns="0" rIns="0" tIns="0" bIns="0">
            <a:spAutoFit/>
          </a:bodyPr>
          <a:lstStyle/>
          <a:p>
            <a:pPr algn="ctr">
              <a:lnSpc>
                <a:spcPct val="105000"/>
              </a:lnSpc>
            </a:pPr>
            <a:r>
              <a:rPr sz="1200" b="1" i="0">
                <a:solidFill>
                  <a:srgbClr val="FFFFFF"/>
                </a:solidFill>
                <a:latin typeface="Segoe UI"/>
              </a:rPr>
              <a:t>Unit-Economics</a:t>
            </a:r>
          </a:p>
          <a:p>
            <a:pPr algn="ctr">
              <a:lnSpc>
                <a:spcPct val="105000"/>
              </a:lnSpc>
            </a:pPr>
            <a:r>
              <a:rPr sz="1200" b="1" i="0">
                <a:solidFill>
                  <a:srgbClr val="FFFFFF"/>
                </a:solidFill>
                <a:latin typeface="Segoe UI"/>
              </a:rPr>
              <a:t>Engine</a:t>
            </a:r>
          </a:p>
          <a:p>
            <a:pPr algn="ctr">
              <a:lnSpc>
                <a:spcPct val="105000"/>
              </a:lnSpc>
            </a:pPr>
            <a:r>
              <a:rPr sz="1200" b="1" i="0">
                <a:solidFill>
                  <a:srgbClr val="FFFFFF"/>
                </a:solidFill>
                <a:latin typeface="Segoe UI"/>
              </a:rPr>
              <a:t>(contribution margin)</a:t>
            </a:r>
          </a:p>
        </p:txBody>
      </p:sp>
      <p:sp>
        <p:nvSpPr>
          <p:cNvPr id="16" name="TextBox 15"/>
          <p:cNvSpPr txBox="1"/>
          <p:nvPr/>
        </p:nvSpPr>
        <p:spPr>
          <a:xfrm>
            <a:off x="5989320" y="2148840"/>
            <a:ext cx="182880" cy="105156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17" name="Rounded Rectangle 16"/>
          <p:cNvSpPr/>
          <p:nvPr/>
        </p:nvSpPr>
        <p:spPr>
          <a:xfrm>
            <a:off x="6172200" y="2148840"/>
            <a:ext cx="2720340" cy="105156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27064" y="2148840"/>
            <a:ext cx="2610612" cy="1051560"/>
          </a:xfrm>
          <a:prstGeom prst="rect">
            <a:avLst/>
          </a:prstGeom>
          <a:noFill/>
        </p:spPr>
        <p:txBody>
          <a:bodyPr wrap="square" anchor="ctr" lIns="0" rIns="0" tIns="0" bIns="0">
            <a:spAutoFit/>
          </a:bodyPr>
          <a:lstStyle/>
          <a:p>
            <a:pPr algn="ctr">
              <a:lnSpc>
                <a:spcPct val="105000"/>
              </a:lnSpc>
            </a:pPr>
            <a:r>
              <a:rPr sz="1200" b="1" i="0">
                <a:solidFill>
                  <a:srgbClr val="FFFFFF"/>
                </a:solidFill>
                <a:latin typeface="Segoe UI"/>
              </a:rPr>
              <a:t>City / Dark-Store /</a:t>
            </a:r>
          </a:p>
          <a:p>
            <a:pPr algn="ctr">
              <a:lnSpc>
                <a:spcPct val="105000"/>
              </a:lnSpc>
            </a:pPr>
            <a:r>
              <a:rPr sz="1200" b="1" i="0">
                <a:solidFill>
                  <a:srgbClr val="FFFFFF"/>
                </a:solidFill>
                <a:latin typeface="Segoe UI"/>
              </a:rPr>
              <a:t>Cohort Ranking</a:t>
            </a:r>
          </a:p>
        </p:txBody>
      </p:sp>
      <p:sp>
        <p:nvSpPr>
          <p:cNvPr id="19" name="TextBox 18"/>
          <p:cNvSpPr txBox="1"/>
          <p:nvPr/>
        </p:nvSpPr>
        <p:spPr>
          <a:xfrm>
            <a:off x="8892540" y="2148840"/>
            <a:ext cx="182880" cy="1051560"/>
          </a:xfrm>
          <a:prstGeom prst="rect">
            <a:avLst/>
          </a:prstGeom>
          <a:noFill/>
        </p:spPr>
        <p:txBody>
          <a:bodyPr wrap="square" anchor="ctr" lIns="0" rIns="0" tIns="0" bIns="0">
            <a:spAutoFit/>
          </a:bodyPr>
          <a:lstStyle/>
          <a:p>
            <a:pPr algn="ctr">
              <a:lnSpc>
                <a:spcPct val="100000"/>
              </a:lnSpc>
            </a:pPr>
            <a:r>
              <a:rPr sz="1800" b="1" i="0">
                <a:solidFill>
                  <a:srgbClr val="5B6472"/>
                </a:solidFill>
                <a:latin typeface="Segoe UI"/>
              </a:rPr>
              <a:t>→</a:t>
            </a:r>
          </a:p>
        </p:txBody>
      </p:sp>
      <p:sp>
        <p:nvSpPr>
          <p:cNvPr id="20" name="Rounded Rectangle 19"/>
          <p:cNvSpPr/>
          <p:nvPr/>
        </p:nvSpPr>
        <p:spPr>
          <a:xfrm>
            <a:off x="9075420" y="2148840"/>
            <a:ext cx="2720340" cy="1051560"/>
          </a:xfrm>
          <a:prstGeom prst="roundRect">
            <a:avLst/>
          </a:prstGeom>
          <a:solidFill>
            <a:srgbClr val="5E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130284" y="2148840"/>
            <a:ext cx="2610612" cy="1051560"/>
          </a:xfrm>
          <a:prstGeom prst="rect">
            <a:avLst/>
          </a:prstGeom>
          <a:noFill/>
        </p:spPr>
        <p:txBody>
          <a:bodyPr wrap="square" anchor="ctr" lIns="0" rIns="0" tIns="0" bIns="0">
            <a:spAutoFit/>
          </a:bodyPr>
          <a:lstStyle/>
          <a:p>
            <a:pPr algn="ctr">
              <a:lnSpc>
                <a:spcPct val="105000"/>
              </a:lnSpc>
            </a:pPr>
            <a:r>
              <a:rPr sz="1200" b="1" i="0">
                <a:solidFill>
                  <a:srgbClr val="FFFFFF"/>
                </a:solidFill>
                <a:latin typeface="Segoe UI"/>
              </a:rPr>
              <a:t>Leadership Decision:</a:t>
            </a:r>
          </a:p>
          <a:p>
            <a:pPr algn="ctr">
              <a:lnSpc>
                <a:spcPct val="105000"/>
              </a:lnSpc>
            </a:pPr>
            <a:r>
              <a:rPr sz="1200" b="1" i="0">
                <a:solidFill>
                  <a:srgbClr val="FFFFFF"/>
                </a:solidFill>
                <a:latin typeface="Segoe UI"/>
              </a:rPr>
              <a:t>Exit, Keep, or</a:t>
            </a:r>
          </a:p>
          <a:p>
            <a:pPr algn="ctr">
              <a:lnSpc>
                <a:spcPct val="105000"/>
              </a:lnSpc>
            </a:pPr>
            <a:r>
              <a:rPr sz="1200" b="1" i="0">
                <a:solidFill>
                  <a:srgbClr val="FFFFFF"/>
                </a:solidFill>
                <a:latin typeface="Segoe UI"/>
              </a:rPr>
              <a:t>Double Down</a:t>
            </a:r>
          </a:p>
        </p:txBody>
      </p:sp>
      <p:sp>
        <p:nvSpPr>
          <p:cNvPr id="22" name="TextBox 21"/>
          <p:cNvSpPr txBox="1"/>
          <p:nvPr/>
        </p:nvSpPr>
        <p:spPr>
          <a:xfrm>
            <a:off x="365760" y="3520440"/>
            <a:ext cx="5486400" cy="320040"/>
          </a:xfrm>
          <a:prstGeom prst="rect">
            <a:avLst/>
          </a:prstGeom>
          <a:noFill/>
        </p:spPr>
        <p:txBody>
          <a:bodyPr wrap="square" anchor="t" lIns="0" rIns="0" tIns="0" bIns="0">
            <a:spAutoFit/>
          </a:bodyPr>
          <a:lstStyle/>
          <a:p>
            <a:pPr algn="l">
              <a:lnSpc>
                <a:spcPct val="100000"/>
              </a:lnSpc>
            </a:pPr>
            <a:r>
              <a:rPr sz="1400" b="1" i="0">
                <a:solidFill>
                  <a:srgbClr val="1B7F5B"/>
                </a:solidFill>
                <a:latin typeface="Century Gothic"/>
              </a:rPr>
              <a:t>Why This Comes First</a:t>
            </a:r>
          </a:p>
        </p:txBody>
      </p:sp>
      <p:sp>
        <p:nvSpPr>
          <p:cNvPr id="23" name="TextBox 22"/>
          <p:cNvSpPr txBox="1"/>
          <p:nvPr/>
        </p:nvSpPr>
        <p:spPr>
          <a:xfrm>
            <a:off x="365760" y="3931920"/>
            <a:ext cx="5486400" cy="237744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Resolves the internal disagreement  </a:t>
            </a:r>
            <a:r>
              <a:rPr sz="1200" i="1">
                <a:solidFill>
                  <a:srgbClr val="22222A"/>
                </a:solidFill>
                <a:latin typeface="Segoe UI"/>
              </a:rPr>
              <a:t>with data instead of opinions — leadership stops debating strategy in the abstract and starts deciding city by city.</a:t>
            </a:r>
          </a:p>
          <a:p>
            <a:pPr>
              <a:lnSpc>
                <a:spcPct val="105000"/>
              </a:lnSpc>
              <a:spcAft>
                <a:spcPts val="800"/>
              </a:spcAft>
            </a:pPr>
            <a:r>
              <a:rPr sz="1200">
                <a:solidFill>
                  <a:srgbClr val="E06A1F"/>
                </a:solidFill>
                <a:latin typeface="Segoe UI"/>
              </a:rPr>
              <a:t>●  </a:t>
            </a:r>
            <a:r>
              <a:rPr sz="1200" b="1" i="1">
                <a:solidFill>
                  <a:srgbClr val="0B2447"/>
                </a:solidFill>
                <a:latin typeface="Segoe UI"/>
              </a:rPr>
              <a:t>Makes Option 2 executable, not just directional:  </a:t>
            </a:r>
            <a:r>
              <a:rPr sz="1200" i="1">
                <a:solidFill>
                  <a:srgbClr val="22222A"/>
                </a:solidFill>
                <a:latin typeface="Segoe UI"/>
              </a:rPr>
              <a:t>"exit unprofitable cities" is only safe advice once you know precisely which ones those are.</a:t>
            </a:r>
          </a:p>
        </p:txBody>
      </p:sp>
      <p:sp>
        <p:nvSpPr>
          <p:cNvPr id="24" name="Rectangle 23"/>
          <p:cNvSpPr/>
          <p:nvPr/>
        </p:nvSpPr>
        <p:spPr>
          <a:xfrm>
            <a:off x="6309360" y="3520440"/>
            <a:ext cx="5486400" cy="283464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92240" y="3657600"/>
            <a:ext cx="5120640" cy="274320"/>
          </a:xfrm>
          <a:prstGeom prst="rect">
            <a:avLst/>
          </a:prstGeom>
          <a:noFill/>
        </p:spPr>
        <p:txBody>
          <a:bodyPr wrap="square" anchor="t" lIns="0" rIns="0" tIns="0" bIns="0">
            <a:spAutoFit/>
          </a:bodyPr>
          <a:lstStyle/>
          <a:p>
            <a:pPr algn="l">
              <a:lnSpc>
                <a:spcPct val="100000"/>
              </a:lnSpc>
            </a:pPr>
            <a:r>
              <a:rPr sz="1300" b="1" i="0">
                <a:solidFill>
                  <a:srgbClr val="5E4198"/>
                </a:solidFill>
                <a:latin typeface="Century Gothic"/>
              </a:rPr>
              <a:t>Build Cost</a:t>
            </a:r>
          </a:p>
        </p:txBody>
      </p:sp>
      <p:sp>
        <p:nvSpPr>
          <p:cNvPr id="26" name="TextBox 25"/>
          <p:cNvSpPr txBox="1"/>
          <p:nvPr/>
        </p:nvSpPr>
        <p:spPr>
          <a:xfrm>
            <a:off x="6492240" y="3977639"/>
            <a:ext cx="5120640" cy="2286000"/>
          </a:xfrm>
          <a:prstGeom prst="rect">
            <a:avLst/>
          </a:prstGeom>
          <a:noFill/>
        </p:spPr>
        <p:txBody>
          <a:bodyPr wrap="square" anchor="t" lIns="0" rIns="0" tIns="0" bIns="0">
            <a:spAutoFit/>
          </a:bodyPr>
          <a:lstStyle/>
          <a:p>
            <a:pPr algn="l">
              <a:lnSpc>
                <a:spcPct val="125000"/>
              </a:lnSpc>
            </a:pPr>
            <a:r>
              <a:rPr sz="1200" b="0" i="1">
                <a:solidFill>
                  <a:srgbClr val="22222A"/>
                </a:solidFill>
                <a:latin typeface="Segoe UI"/>
              </a:rPr>
              <a:t>This is a reporting layer over data QuickBasket already generates (orders, delivery logs, warehouse costs) — a small dedicated squad, roughly 2-3 weeks, not a new platform. It is the highest-leverage two weeks of engineering time available right now.</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4</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FIX #1</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Cutting Delivery &amp; Warehouse Cost Per Order</a:t>
            </a:r>
          </a:p>
        </p:txBody>
      </p:sp>
      <p:sp>
        <p:nvSpPr>
          <p:cNvPr id="10" name="TextBox 9"/>
          <p:cNvSpPr txBox="1"/>
          <p:nvPr/>
        </p:nvSpPr>
        <p:spPr>
          <a:xfrm>
            <a:off x="365760" y="1371600"/>
            <a:ext cx="11430000" cy="457200"/>
          </a:xfrm>
          <a:prstGeom prst="rect">
            <a:avLst/>
          </a:prstGeom>
          <a:noFill/>
        </p:spPr>
        <p:txBody>
          <a:bodyPr wrap="square" anchor="t" lIns="0" rIns="0" tIns="0" bIns="0">
            <a:spAutoFit/>
          </a:bodyPr>
          <a:lstStyle/>
          <a:p>
            <a:pPr algn="l">
              <a:lnSpc>
                <a:spcPct val="100000"/>
              </a:lnSpc>
            </a:pPr>
            <a:r>
              <a:rPr sz="1300" b="0" i="1">
                <a:solidFill>
                  <a:srgbClr val="22222A"/>
                </a:solidFill>
                <a:latin typeface="Segoe UI"/>
              </a:rPr>
              <a:t>Retention fixes are worthless if every order is still underwater — cost per order has to fall in the cities QuickBasket keeps.</a:t>
            </a:r>
          </a:p>
        </p:txBody>
      </p:sp>
      <p:sp>
        <p:nvSpPr>
          <p:cNvPr id="11" name="TextBox 10"/>
          <p:cNvSpPr txBox="1"/>
          <p:nvPr/>
        </p:nvSpPr>
        <p:spPr>
          <a:xfrm>
            <a:off x="365760" y="2011680"/>
            <a:ext cx="5486400" cy="320040"/>
          </a:xfrm>
          <a:prstGeom prst="rect">
            <a:avLst/>
          </a:prstGeom>
          <a:noFill/>
        </p:spPr>
        <p:txBody>
          <a:bodyPr wrap="square" anchor="t" lIns="0" rIns="0" tIns="0" bIns="0">
            <a:spAutoFit/>
          </a:bodyPr>
          <a:lstStyle/>
          <a:p>
            <a:pPr algn="l">
              <a:lnSpc>
                <a:spcPct val="100000"/>
              </a:lnSpc>
            </a:pPr>
            <a:r>
              <a:rPr sz="1500" b="1" i="0">
                <a:solidFill>
                  <a:srgbClr val="1B7F5B"/>
                </a:solidFill>
                <a:latin typeface="Century Gothic"/>
              </a:rPr>
              <a:t>Four Levers, in Priority Order</a:t>
            </a:r>
          </a:p>
        </p:txBody>
      </p:sp>
      <p:sp>
        <p:nvSpPr>
          <p:cNvPr id="12" name="TextBox 11"/>
          <p:cNvSpPr txBox="1"/>
          <p:nvPr/>
        </p:nvSpPr>
        <p:spPr>
          <a:xfrm>
            <a:off x="365760" y="2423160"/>
            <a:ext cx="5486400" cy="347472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1. Delivery batching / route optimization:  </a:t>
            </a:r>
            <a:r>
              <a:rPr sz="1200" i="1">
                <a:solidFill>
                  <a:srgbClr val="22222A"/>
                </a:solidFill>
                <a:latin typeface="Segoe UI"/>
              </a:rPr>
              <a:t>fewer single-order rider trips — the single biggest lever on last-mile cost per order.</a:t>
            </a:r>
          </a:p>
          <a:p>
            <a:pPr>
              <a:lnSpc>
                <a:spcPct val="105000"/>
              </a:lnSpc>
              <a:spcAft>
                <a:spcPts val="800"/>
              </a:spcAft>
            </a:pPr>
            <a:r>
              <a:rPr sz="1200">
                <a:solidFill>
                  <a:srgbClr val="E06A1F"/>
                </a:solidFill>
                <a:latin typeface="Segoe UI"/>
              </a:rPr>
              <a:t>●  </a:t>
            </a:r>
            <a:r>
              <a:rPr sz="1200" b="1" i="1">
                <a:solidFill>
                  <a:srgbClr val="0B2447"/>
                </a:solidFill>
                <a:latin typeface="Segoe UI"/>
              </a:rPr>
              <a:t>2. Demand forecasting per dark store:  </a:t>
            </a:r>
            <a:r>
              <a:rPr sz="1200" i="1">
                <a:solidFill>
                  <a:srgbClr val="22222A"/>
                </a:solidFill>
                <a:latin typeface="Segoe UI"/>
              </a:rPr>
              <a:t>right-size inventory to cut grocery spoilage/waste, a direct, avoidable cost unique to quick-commerce.</a:t>
            </a:r>
          </a:p>
          <a:p>
            <a:pPr>
              <a:lnSpc>
                <a:spcPct val="105000"/>
              </a:lnSpc>
              <a:spcAft>
                <a:spcPts val="800"/>
              </a:spcAft>
            </a:pPr>
            <a:r>
              <a:rPr sz="1200">
                <a:solidFill>
                  <a:srgbClr val="E06A1F"/>
                </a:solidFill>
                <a:latin typeface="Segoe UI"/>
              </a:rPr>
              <a:t>●  </a:t>
            </a:r>
            <a:r>
              <a:rPr sz="1200" b="1" i="1">
                <a:solidFill>
                  <a:srgbClr val="0B2447"/>
                </a:solidFill>
                <a:latin typeface="Segoe UI"/>
              </a:rPr>
              <a:t>3. Dynamic rider allocation:  </a:t>
            </a:r>
            <a:r>
              <a:rPr sz="1200" i="1">
                <a:solidFill>
                  <a:srgbClr val="22222A"/>
                </a:solidFill>
                <a:latin typeface="Segoe UI"/>
              </a:rPr>
              <a:t>staff riders to the predicted demand curve, not a flat roster — cuts idle-time cost.</a:t>
            </a:r>
          </a:p>
          <a:p>
            <a:pPr>
              <a:lnSpc>
                <a:spcPct val="105000"/>
              </a:lnSpc>
              <a:spcAft>
                <a:spcPts val="800"/>
              </a:spcAft>
            </a:pPr>
            <a:r>
              <a:rPr sz="1200">
                <a:solidFill>
                  <a:srgbClr val="E06A1F"/>
                </a:solidFill>
                <a:latin typeface="Segoe UI"/>
              </a:rPr>
              <a:t>●  </a:t>
            </a:r>
            <a:r>
              <a:rPr sz="1200" b="1" i="1">
                <a:solidFill>
                  <a:srgbClr val="0B2447"/>
                </a:solidFill>
                <a:latin typeface="Segoe UI"/>
              </a:rPr>
              <a:t>4. Packaging &amp; last-mile cost tuning:  </a:t>
            </a:r>
            <a:r>
              <a:rPr sz="1200" i="1">
                <a:solidFill>
                  <a:srgbClr val="22222A"/>
                </a:solidFill>
                <a:latin typeface="Segoe UI"/>
              </a:rPr>
              <a:t>smaller, cheaper packaging tiers by basket size.</a:t>
            </a:r>
          </a:p>
        </p:txBody>
      </p:sp>
      <p:sp>
        <p:nvSpPr>
          <p:cNvPr id="13" name="TextBox 12"/>
          <p:cNvSpPr txBox="1"/>
          <p:nvPr/>
        </p:nvSpPr>
        <p:spPr>
          <a:xfrm>
            <a:off x="6309360" y="2011680"/>
            <a:ext cx="5486400" cy="320040"/>
          </a:xfrm>
          <a:prstGeom prst="rect">
            <a:avLst/>
          </a:prstGeom>
          <a:noFill/>
        </p:spPr>
        <p:txBody>
          <a:bodyPr wrap="square" anchor="t" lIns="0" rIns="0" tIns="0" bIns="0">
            <a:spAutoFit/>
          </a:bodyPr>
          <a:lstStyle/>
          <a:p>
            <a:pPr algn="l">
              <a:lnSpc>
                <a:spcPct val="100000"/>
              </a:lnSpc>
            </a:pPr>
            <a:r>
              <a:rPr sz="1500" b="1" i="0">
                <a:solidFill>
                  <a:srgbClr val="5E4198"/>
                </a:solidFill>
                <a:latin typeface="Century Gothic"/>
              </a:rPr>
              <a:t>Sequencing Logic</a:t>
            </a:r>
          </a:p>
        </p:txBody>
      </p:sp>
      <p:sp>
        <p:nvSpPr>
          <p:cNvPr id="14" name="Rectangle 13"/>
          <p:cNvSpPr/>
          <p:nvPr/>
        </p:nvSpPr>
        <p:spPr>
          <a:xfrm>
            <a:off x="6309360" y="2423160"/>
            <a:ext cx="5486400" cy="347472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560320"/>
            <a:ext cx="5120640" cy="3200400"/>
          </a:xfrm>
          <a:prstGeom prst="rect">
            <a:avLst/>
          </a:prstGeom>
          <a:noFill/>
        </p:spPr>
        <p:txBody>
          <a:bodyPr wrap="square" anchor="t" lIns="0" rIns="0" tIns="0" bIns="0">
            <a:spAutoFit/>
          </a:bodyPr>
          <a:lstStyle/>
          <a:p>
            <a:pPr algn="l">
              <a:lnSpc>
                <a:spcPct val="125000"/>
              </a:lnSpc>
            </a:pPr>
            <a:r>
              <a:rPr sz="1200" b="0" i="1">
                <a:solidFill>
                  <a:srgbClr val="22222A"/>
                </a:solidFill>
                <a:latin typeface="Segoe UI"/>
              </a:rPr>
              <a:t>Route optimization and demand forecasting are prioritised first because they act on data the Unit-Economics Engine (Slide 3) already surfaces, and they pay back within weeks, not quarters. Rider allocation and packaging follow once the first two are live and their savings are visible in the same dashboard — proof compounds the case for further investment instead of asking leadership to trust the plan up front.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5</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FIX #2</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Replacing Discounts With Product-Led Retention</a:t>
            </a:r>
          </a:p>
        </p:txBody>
      </p:sp>
      <p:sp>
        <p:nvSpPr>
          <p:cNvPr id="10" name="TextBox 9"/>
          <p:cNvSpPr txBox="1"/>
          <p:nvPr/>
        </p:nvSpPr>
        <p:spPr>
          <a:xfrm>
            <a:off x="365760" y="1371600"/>
            <a:ext cx="11430000" cy="457200"/>
          </a:xfrm>
          <a:prstGeom prst="rect">
            <a:avLst/>
          </a:prstGeom>
          <a:noFill/>
        </p:spPr>
        <p:txBody>
          <a:bodyPr wrap="square" anchor="t" lIns="0" rIns="0" tIns="0" bIns="0">
            <a:spAutoFit/>
          </a:bodyPr>
          <a:lstStyle/>
          <a:p>
            <a:pPr algn="l">
              <a:lnSpc>
                <a:spcPct val="100000"/>
              </a:lnSpc>
            </a:pPr>
            <a:r>
              <a:rPr sz="1300" b="0" i="1">
                <a:solidFill>
                  <a:srgbClr val="22222A"/>
                </a:solidFill>
                <a:latin typeface="Segoe UI"/>
              </a:rPr>
              <a:t>CAC is up 70% and blanket discounts are training users to wait for the next one — the fix is to make the product itself the reason they return.</a:t>
            </a:r>
          </a:p>
        </p:txBody>
      </p:sp>
      <p:sp>
        <p:nvSpPr>
          <p:cNvPr id="11" name="TextBox 10"/>
          <p:cNvSpPr txBox="1"/>
          <p:nvPr/>
        </p:nvSpPr>
        <p:spPr>
          <a:xfrm>
            <a:off x="365760" y="2011680"/>
            <a:ext cx="5486400" cy="320040"/>
          </a:xfrm>
          <a:prstGeom prst="rect">
            <a:avLst/>
          </a:prstGeom>
          <a:noFill/>
        </p:spPr>
        <p:txBody>
          <a:bodyPr wrap="square" anchor="t" lIns="0" rIns="0" tIns="0" bIns="0">
            <a:spAutoFit/>
          </a:bodyPr>
          <a:lstStyle/>
          <a:p>
            <a:pPr algn="l">
              <a:lnSpc>
                <a:spcPct val="100000"/>
              </a:lnSpc>
            </a:pPr>
            <a:r>
              <a:rPr sz="1500" b="1" i="0">
                <a:solidFill>
                  <a:srgbClr val="1B7F5B"/>
                </a:solidFill>
                <a:latin typeface="Century Gothic"/>
              </a:rPr>
              <a:t>Three Retention Levers</a:t>
            </a:r>
          </a:p>
        </p:txBody>
      </p:sp>
      <p:sp>
        <p:nvSpPr>
          <p:cNvPr id="12" name="TextBox 11"/>
          <p:cNvSpPr txBox="1"/>
          <p:nvPr/>
        </p:nvSpPr>
        <p:spPr>
          <a:xfrm>
            <a:off x="365760" y="2423160"/>
            <a:ext cx="5486400" cy="3108960"/>
          </a:xfrm>
          <a:prstGeom prst="rect">
            <a:avLst/>
          </a:prstGeom>
          <a:noFill/>
        </p:spPr>
        <p:txBody>
          <a:bodyPr wrap="square" lIns="0" rIns="0" tIns="0" bIns="0">
            <a:spAutoFit/>
          </a:bodyPr>
          <a:lstStyle/>
          <a:p>
            <a:pPr>
              <a:lnSpc>
                <a:spcPct val="105000"/>
              </a:lnSpc>
              <a:spcAft>
                <a:spcPts val="800"/>
              </a:spcAft>
            </a:pPr>
            <a:r>
              <a:rPr sz="1200">
                <a:solidFill>
                  <a:srgbClr val="E06A1F"/>
                </a:solidFill>
                <a:latin typeface="Segoe UI"/>
              </a:rPr>
              <a:t>●  </a:t>
            </a:r>
            <a:r>
              <a:rPr sz="1200" b="1" i="1">
                <a:solidFill>
                  <a:srgbClr val="0B2447"/>
                </a:solidFill>
                <a:latin typeface="Segoe UI"/>
              </a:rPr>
              <a:t>Predictive reorder prompts:  </a:t>
            </a:r>
            <a:r>
              <a:rPr sz="1200" i="1">
                <a:solidFill>
                  <a:srgbClr val="22222A"/>
                </a:solidFill>
                <a:latin typeface="Segoe UI"/>
              </a:rPr>
              <a:t>"milk again?" — nudge restocking of habitual essentials before the user thinks to open a competitor's app.</a:t>
            </a:r>
          </a:p>
          <a:p>
            <a:pPr>
              <a:lnSpc>
                <a:spcPct val="105000"/>
              </a:lnSpc>
              <a:spcAft>
                <a:spcPts val="800"/>
              </a:spcAft>
            </a:pPr>
            <a:r>
              <a:rPr sz="1200">
                <a:solidFill>
                  <a:srgbClr val="E06A1F"/>
                </a:solidFill>
                <a:latin typeface="Segoe UI"/>
              </a:rPr>
              <a:t>●  </a:t>
            </a:r>
            <a:r>
              <a:rPr sz="1200" b="1" i="1">
                <a:solidFill>
                  <a:srgbClr val="0B2447"/>
                </a:solidFill>
                <a:latin typeface="Segoe UI"/>
              </a:rPr>
              <a:t>Light loyalty / subscription tier:  </a:t>
            </a:r>
            <a:r>
              <a:rPr sz="1200" i="1">
                <a:solidFill>
                  <a:srgbClr val="22222A"/>
                </a:solidFill>
                <a:latin typeface="Segoe UI"/>
              </a:rPr>
              <a:t>small predictable recurring revenue and a habit loop, instead of one-off discount hunting.</a:t>
            </a:r>
          </a:p>
          <a:p>
            <a:pPr>
              <a:lnSpc>
                <a:spcPct val="105000"/>
              </a:lnSpc>
              <a:spcAft>
                <a:spcPts val="800"/>
              </a:spcAft>
            </a:pPr>
            <a:r>
              <a:rPr sz="1200">
                <a:solidFill>
                  <a:srgbClr val="E06A1F"/>
                </a:solidFill>
                <a:latin typeface="Segoe UI"/>
              </a:rPr>
              <a:t>●  </a:t>
            </a:r>
            <a:r>
              <a:rPr sz="1200" b="1" i="1">
                <a:solidFill>
                  <a:srgbClr val="0B2447"/>
                </a:solidFill>
                <a:latin typeface="Segoe UI"/>
              </a:rPr>
              <a:t>Targeted, not blanket, promotions:  </a:t>
            </a:r>
            <a:r>
              <a:rPr sz="1200" i="1">
                <a:solidFill>
                  <a:srgbClr val="22222A"/>
                </a:solidFill>
                <a:latin typeface="Segoe UI"/>
              </a:rPr>
              <a:t>an ML model scores churn risk and spends discount budget only on users about to leave — same retention effect, a fraction of the cost.</a:t>
            </a:r>
          </a:p>
        </p:txBody>
      </p:sp>
      <p:sp>
        <p:nvSpPr>
          <p:cNvPr id="13" name="TextBox 12"/>
          <p:cNvSpPr txBox="1"/>
          <p:nvPr/>
        </p:nvSpPr>
        <p:spPr>
          <a:xfrm>
            <a:off x="6309360" y="2011680"/>
            <a:ext cx="5486400" cy="320040"/>
          </a:xfrm>
          <a:prstGeom prst="rect">
            <a:avLst/>
          </a:prstGeom>
          <a:noFill/>
        </p:spPr>
        <p:txBody>
          <a:bodyPr wrap="square" anchor="t" lIns="0" rIns="0" tIns="0" bIns="0">
            <a:spAutoFit/>
          </a:bodyPr>
          <a:lstStyle/>
          <a:p>
            <a:pPr algn="l">
              <a:lnSpc>
                <a:spcPct val="100000"/>
              </a:lnSpc>
            </a:pPr>
            <a:r>
              <a:rPr sz="1500" b="1" i="0">
                <a:solidFill>
                  <a:srgbClr val="5E4198"/>
                </a:solidFill>
                <a:latin typeface="Century Gothic"/>
              </a:rPr>
              <a:t>Customer Insight Behind This</a:t>
            </a:r>
          </a:p>
        </p:txBody>
      </p:sp>
      <p:sp>
        <p:nvSpPr>
          <p:cNvPr id="14" name="Rectangle 13"/>
          <p:cNvSpPr/>
          <p:nvPr/>
        </p:nvSpPr>
        <p:spPr>
          <a:xfrm>
            <a:off x="6309360" y="2423160"/>
            <a:ext cx="5486400" cy="310896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2560320"/>
            <a:ext cx="5120640" cy="2834640"/>
          </a:xfrm>
          <a:prstGeom prst="rect">
            <a:avLst/>
          </a:prstGeom>
          <a:noFill/>
        </p:spPr>
        <p:txBody>
          <a:bodyPr wrap="square" anchor="t" lIns="0" rIns="0" tIns="0" bIns="0">
            <a:spAutoFit/>
          </a:bodyPr>
          <a:lstStyle/>
          <a:p>
            <a:pPr algn="l">
              <a:lnSpc>
                <a:spcPct val="122000"/>
              </a:lnSpc>
            </a:pPr>
            <a:r>
              <a:rPr sz="1150" b="0" i="1">
                <a:solidFill>
                  <a:srgbClr val="22222A"/>
                </a:solidFill>
                <a:latin typeface="Segoe UI"/>
              </a:rPr>
              <a:t>College students and young professionals — QuickBasket's original core — value speed and habit, not the lowest price on a given order. A discount-trained user is actually a mispriced retention strategy: it's optimising for the customer who cares least about the product and most about the coupon, which is exactly the segment large competitors can outspend. Targeted retention wins back the segment that discounting alone can't hold.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6</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STRATEGIC RECOMMENDATION</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Reading the Four Options Through a Tech Lens</a:t>
            </a:r>
          </a:p>
        </p:txBody>
      </p:sp>
      <p:sp>
        <p:nvSpPr>
          <p:cNvPr id="10" name="Rounded Rectangle 9"/>
          <p:cNvSpPr/>
          <p:nvPr/>
        </p:nvSpPr>
        <p:spPr>
          <a:xfrm>
            <a:off x="365760" y="1463040"/>
            <a:ext cx="3017520" cy="1051560"/>
          </a:xfrm>
          <a:prstGeom prst="roundRect">
            <a:avLst/>
          </a:prstGeom>
          <a:solidFill>
            <a:srgbClr val="B33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02920" y="1554480"/>
            <a:ext cx="2743200" cy="502920"/>
          </a:xfrm>
          <a:prstGeom prst="rect">
            <a:avLst/>
          </a:prstGeom>
          <a:noFill/>
        </p:spPr>
        <p:txBody>
          <a:bodyPr wrap="square" anchor="t" lIns="0" rIns="0" tIns="0" bIns="0">
            <a:spAutoFit/>
          </a:bodyPr>
          <a:lstStyle/>
          <a:p>
            <a:pPr algn="l">
              <a:lnSpc>
                <a:spcPct val="105000"/>
              </a:lnSpc>
            </a:pPr>
            <a:r>
              <a:rPr sz="1200" b="1" i="0">
                <a:solidFill>
                  <a:srgbClr val="FFFFFF"/>
                </a:solidFill>
                <a:latin typeface="Segoe UI"/>
              </a:rPr>
              <a:t>Option 1 — Double Down on Growth</a:t>
            </a:r>
          </a:p>
        </p:txBody>
      </p:sp>
      <p:sp>
        <p:nvSpPr>
          <p:cNvPr id="12" name="TextBox 11"/>
          <p:cNvSpPr txBox="1"/>
          <p:nvPr/>
        </p:nvSpPr>
        <p:spPr>
          <a:xfrm>
            <a:off x="502920" y="2084832"/>
            <a:ext cx="2743200" cy="320040"/>
          </a:xfrm>
          <a:prstGeom prst="rect">
            <a:avLst/>
          </a:prstGeom>
          <a:noFill/>
        </p:spPr>
        <p:txBody>
          <a:bodyPr wrap="square" anchor="t" lIns="0" rIns="0" tIns="0" bIns="0">
            <a:spAutoFit/>
          </a:bodyPr>
          <a:lstStyle/>
          <a:p>
            <a:pPr algn="l">
              <a:lnSpc>
                <a:spcPct val="100000"/>
              </a:lnSpc>
            </a:pPr>
            <a:r>
              <a:rPr sz="1150" b="1" i="1">
                <a:solidFill>
                  <a:srgbClr val="FFFFFF"/>
                </a:solidFill>
                <a:latin typeface="Segoe UI"/>
              </a:rPr>
              <a:t>Rejected.</a:t>
            </a:r>
          </a:p>
        </p:txBody>
      </p:sp>
      <p:sp>
        <p:nvSpPr>
          <p:cNvPr id="13" name="Rectangle 12"/>
          <p:cNvSpPr/>
          <p:nvPr/>
        </p:nvSpPr>
        <p:spPr>
          <a:xfrm>
            <a:off x="3566160" y="1463040"/>
            <a:ext cx="8229600" cy="105156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49039" y="1463040"/>
            <a:ext cx="7863840" cy="1051560"/>
          </a:xfrm>
          <a:prstGeom prst="rect">
            <a:avLst/>
          </a:prstGeom>
          <a:noFill/>
        </p:spPr>
        <p:txBody>
          <a:bodyPr wrap="square" anchor="ctr" lIns="0" rIns="0" tIns="0" bIns="0">
            <a:spAutoFit/>
          </a:bodyPr>
          <a:lstStyle/>
          <a:p>
            <a:pPr algn="l">
              <a:lnSpc>
                <a:spcPct val="115000"/>
              </a:lnSpc>
            </a:pPr>
            <a:r>
              <a:rPr sz="1200" b="0" i="1">
                <a:solidFill>
                  <a:srgbClr val="22222A"/>
                </a:solidFill>
                <a:latin typeface="Segoe UI"/>
              </a:rPr>
              <a:t>Tech cannot fix unit economics fast enough to fund a growth push on 6 months of runway.</a:t>
            </a:r>
          </a:p>
        </p:txBody>
      </p:sp>
      <p:sp>
        <p:nvSpPr>
          <p:cNvPr id="15" name="Rounded Rectangle 14"/>
          <p:cNvSpPr/>
          <p:nvPr/>
        </p:nvSpPr>
        <p:spPr>
          <a:xfrm>
            <a:off x="365760" y="2651760"/>
            <a:ext cx="3017520" cy="105156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2743200"/>
            <a:ext cx="2743200" cy="502920"/>
          </a:xfrm>
          <a:prstGeom prst="rect">
            <a:avLst/>
          </a:prstGeom>
          <a:noFill/>
        </p:spPr>
        <p:txBody>
          <a:bodyPr wrap="square" anchor="t" lIns="0" rIns="0" tIns="0" bIns="0">
            <a:spAutoFit/>
          </a:bodyPr>
          <a:lstStyle/>
          <a:p>
            <a:pPr algn="l">
              <a:lnSpc>
                <a:spcPct val="105000"/>
              </a:lnSpc>
            </a:pPr>
            <a:r>
              <a:rPr sz="1200" b="1" i="0">
                <a:solidFill>
                  <a:srgbClr val="FFFFFF"/>
                </a:solidFill>
                <a:latin typeface="Segoe UI"/>
              </a:rPr>
              <a:t>Option 2 — Focus on Profitability</a:t>
            </a:r>
          </a:p>
        </p:txBody>
      </p:sp>
      <p:sp>
        <p:nvSpPr>
          <p:cNvPr id="17" name="TextBox 16"/>
          <p:cNvSpPr txBox="1"/>
          <p:nvPr/>
        </p:nvSpPr>
        <p:spPr>
          <a:xfrm>
            <a:off x="502920" y="3273552"/>
            <a:ext cx="2743200" cy="320040"/>
          </a:xfrm>
          <a:prstGeom prst="rect">
            <a:avLst/>
          </a:prstGeom>
          <a:noFill/>
        </p:spPr>
        <p:txBody>
          <a:bodyPr wrap="square" anchor="t" lIns="0" rIns="0" tIns="0" bIns="0">
            <a:spAutoFit/>
          </a:bodyPr>
          <a:lstStyle/>
          <a:p>
            <a:pPr algn="l">
              <a:lnSpc>
                <a:spcPct val="100000"/>
              </a:lnSpc>
            </a:pPr>
            <a:r>
              <a:rPr sz="1150" b="1" i="1">
                <a:solidFill>
                  <a:srgbClr val="FFFFFF"/>
                </a:solidFill>
                <a:latin typeface="Segoe UI"/>
              </a:rPr>
              <a:t>Primary recommendation.</a:t>
            </a:r>
          </a:p>
        </p:txBody>
      </p:sp>
      <p:sp>
        <p:nvSpPr>
          <p:cNvPr id="18" name="Rectangle 17"/>
          <p:cNvSpPr/>
          <p:nvPr/>
        </p:nvSpPr>
        <p:spPr>
          <a:xfrm>
            <a:off x="3566160" y="2651760"/>
            <a:ext cx="8229600" cy="105156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749039" y="2651760"/>
            <a:ext cx="7863840" cy="1051560"/>
          </a:xfrm>
          <a:prstGeom prst="rect">
            <a:avLst/>
          </a:prstGeom>
          <a:noFill/>
        </p:spPr>
        <p:txBody>
          <a:bodyPr wrap="square" anchor="ctr" lIns="0" rIns="0" tIns="0" bIns="0">
            <a:spAutoFit/>
          </a:bodyPr>
          <a:lstStyle/>
          <a:p>
            <a:pPr algn="l">
              <a:lnSpc>
                <a:spcPct val="115000"/>
              </a:lnSpc>
            </a:pPr>
            <a:r>
              <a:rPr sz="1200" b="0" i="1">
                <a:solidFill>
                  <a:srgbClr val="22222A"/>
                </a:solidFill>
                <a:latin typeface="Segoe UI"/>
              </a:rPr>
              <a:t>This is exactly what the Unit-Economics Engine and cost fixes (Slides 3-4) are built to execute well.</a:t>
            </a:r>
          </a:p>
        </p:txBody>
      </p:sp>
      <p:sp>
        <p:nvSpPr>
          <p:cNvPr id="20" name="Rounded Rectangle 19"/>
          <p:cNvSpPr/>
          <p:nvPr/>
        </p:nvSpPr>
        <p:spPr>
          <a:xfrm>
            <a:off x="365760" y="3840480"/>
            <a:ext cx="3017520" cy="105156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2920" y="3931920"/>
            <a:ext cx="2743200" cy="502920"/>
          </a:xfrm>
          <a:prstGeom prst="rect">
            <a:avLst/>
          </a:prstGeom>
          <a:noFill/>
        </p:spPr>
        <p:txBody>
          <a:bodyPr wrap="square" anchor="t" lIns="0" rIns="0" tIns="0" bIns="0">
            <a:spAutoFit/>
          </a:bodyPr>
          <a:lstStyle/>
          <a:p>
            <a:pPr algn="l">
              <a:lnSpc>
                <a:spcPct val="105000"/>
              </a:lnSpc>
            </a:pPr>
            <a:r>
              <a:rPr sz="1200" b="1" i="0">
                <a:solidFill>
                  <a:srgbClr val="FFFFFF"/>
                </a:solidFill>
                <a:latin typeface="Segoe UI"/>
              </a:rPr>
              <a:t>Option 3 — Pivot to B2B Logistics</a:t>
            </a:r>
          </a:p>
        </p:txBody>
      </p:sp>
      <p:sp>
        <p:nvSpPr>
          <p:cNvPr id="22" name="TextBox 21"/>
          <p:cNvSpPr txBox="1"/>
          <p:nvPr/>
        </p:nvSpPr>
        <p:spPr>
          <a:xfrm>
            <a:off x="502920" y="4462272"/>
            <a:ext cx="2743200" cy="320040"/>
          </a:xfrm>
          <a:prstGeom prst="rect">
            <a:avLst/>
          </a:prstGeom>
          <a:noFill/>
        </p:spPr>
        <p:txBody>
          <a:bodyPr wrap="square" anchor="t" lIns="0" rIns="0" tIns="0" bIns="0">
            <a:spAutoFit/>
          </a:bodyPr>
          <a:lstStyle/>
          <a:p>
            <a:pPr algn="l">
              <a:lnSpc>
                <a:spcPct val="100000"/>
              </a:lnSpc>
            </a:pPr>
            <a:r>
              <a:rPr sz="1150" b="1" i="1">
                <a:solidFill>
                  <a:srgbClr val="FFFFFF"/>
                </a:solidFill>
                <a:latin typeface="Segoe UI"/>
              </a:rPr>
              <a:t>Feasible, but Phase 2.</a:t>
            </a:r>
          </a:p>
        </p:txBody>
      </p:sp>
      <p:sp>
        <p:nvSpPr>
          <p:cNvPr id="23" name="Rectangle 22"/>
          <p:cNvSpPr/>
          <p:nvPr/>
        </p:nvSpPr>
        <p:spPr>
          <a:xfrm>
            <a:off x="3566160" y="3840480"/>
            <a:ext cx="8229600" cy="105156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749039" y="3840480"/>
            <a:ext cx="7863840" cy="1051560"/>
          </a:xfrm>
          <a:prstGeom prst="rect">
            <a:avLst/>
          </a:prstGeom>
          <a:noFill/>
        </p:spPr>
        <p:txBody>
          <a:bodyPr wrap="square" anchor="ctr" lIns="0" rIns="0" tIns="0" bIns="0">
            <a:spAutoFit/>
          </a:bodyPr>
          <a:lstStyle/>
          <a:p>
            <a:pPr algn="l">
              <a:lnSpc>
                <a:spcPct val="115000"/>
              </a:lnSpc>
            </a:pPr>
            <a:r>
              <a:rPr sz="1200" b="0" i="1">
                <a:solidFill>
                  <a:srgbClr val="22222A"/>
                </a:solidFill>
                <a:latin typeface="Segoe UI"/>
              </a:rPr>
              <a:t>Existing warehouse/delivery infra is reusable — but a net-new build now competes for the same engineering capacity Option 2 needs first.</a:t>
            </a:r>
          </a:p>
        </p:txBody>
      </p:sp>
      <p:sp>
        <p:nvSpPr>
          <p:cNvPr id="25" name="Rounded Rectangle 24"/>
          <p:cNvSpPr/>
          <p:nvPr/>
        </p:nvSpPr>
        <p:spPr>
          <a:xfrm>
            <a:off x="365760" y="5029200"/>
            <a:ext cx="3017520" cy="1051560"/>
          </a:xfrm>
          <a:prstGeom prst="roundRect">
            <a:avLst/>
          </a:prstGeom>
          <a:solidFill>
            <a:srgbClr val="5E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502920" y="5120640"/>
            <a:ext cx="2743200" cy="502920"/>
          </a:xfrm>
          <a:prstGeom prst="rect">
            <a:avLst/>
          </a:prstGeom>
          <a:noFill/>
        </p:spPr>
        <p:txBody>
          <a:bodyPr wrap="square" anchor="t" lIns="0" rIns="0" tIns="0" bIns="0">
            <a:spAutoFit/>
          </a:bodyPr>
          <a:lstStyle/>
          <a:p>
            <a:pPr algn="l">
              <a:lnSpc>
                <a:spcPct val="105000"/>
              </a:lnSpc>
            </a:pPr>
            <a:r>
              <a:rPr sz="1200" b="1" i="0">
                <a:solidFill>
                  <a:srgbClr val="FFFFFF"/>
                </a:solidFill>
                <a:latin typeface="Segoe UI"/>
              </a:rPr>
              <a:t>Option 4 — Hybrid Model</a:t>
            </a:r>
          </a:p>
        </p:txBody>
      </p:sp>
      <p:sp>
        <p:nvSpPr>
          <p:cNvPr id="27" name="TextBox 26"/>
          <p:cNvSpPr txBox="1"/>
          <p:nvPr/>
        </p:nvSpPr>
        <p:spPr>
          <a:xfrm>
            <a:off x="502920" y="5650992"/>
            <a:ext cx="2743200" cy="320040"/>
          </a:xfrm>
          <a:prstGeom prst="rect">
            <a:avLst/>
          </a:prstGeom>
          <a:noFill/>
        </p:spPr>
        <p:txBody>
          <a:bodyPr wrap="square" anchor="t" lIns="0" rIns="0" tIns="0" bIns="0">
            <a:spAutoFit/>
          </a:bodyPr>
          <a:lstStyle/>
          <a:p>
            <a:pPr algn="l">
              <a:lnSpc>
                <a:spcPct val="100000"/>
              </a:lnSpc>
            </a:pPr>
            <a:r>
              <a:rPr sz="1150" b="1" i="1">
                <a:solidFill>
                  <a:srgbClr val="FFFFFF"/>
                </a:solidFill>
                <a:latin typeface="Segoe UI"/>
              </a:rPr>
              <a:t>The sequencing answer.</a:t>
            </a:r>
          </a:p>
        </p:txBody>
      </p:sp>
      <p:sp>
        <p:nvSpPr>
          <p:cNvPr id="28" name="Rectangle 27"/>
          <p:cNvSpPr/>
          <p:nvPr/>
        </p:nvSpPr>
        <p:spPr>
          <a:xfrm>
            <a:off x="3566160" y="5029200"/>
            <a:ext cx="8229600" cy="105156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49039" y="5029200"/>
            <a:ext cx="7863840" cy="1051560"/>
          </a:xfrm>
          <a:prstGeom prst="rect">
            <a:avLst/>
          </a:prstGeom>
          <a:noFill/>
        </p:spPr>
        <p:txBody>
          <a:bodyPr wrap="square" anchor="ctr" lIns="0" rIns="0" tIns="0" bIns="0">
            <a:spAutoFit/>
          </a:bodyPr>
          <a:lstStyle/>
          <a:p>
            <a:pPr algn="l">
              <a:lnSpc>
                <a:spcPct val="115000"/>
              </a:lnSpc>
            </a:pPr>
            <a:r>
              <a:rPr sz="1200" b="0" i="1">
                <a:solidFill>
                  <a:srgbClr val="22222A"/>
                </a:solidFill>
                <a:latin typeface="Segoe UI"/>
              </a:rPr>
              <a:t>Execute Option 2 now; layer subscription/B2B revenue from month 4-6 onward by reusing infra, not building net-new.</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7</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EXECUTION</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What Engineering Ships, and When</a:t>
            </a:r>
          </a:p>
        </p:txBody>
      </p:sp>
      <p:sp>
        <p:nvSpPr>
          <p:cNvPr id="10" name="Rounded Rectangle 9"/>
          <p:cNvSpPr/>
          <p:nvPr/>
        </p:nvSpPr>
        <p:spPr>
          <a:xfrm>
            <a:off x="365760" y="1417320"/>
            <a:ext cx="2697480" cy="457200"/>
          </a:xfrm>
          <a:prstGeom prst="roundRect">
            <a:avLst/>
          </a:prstGeom>
          <a:solidFill>
            <a:srgbClr val="B33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 y="1417320"/>
            <a:ext cx="2697480" cy="457200"/>
          </a:xfrm>
          <a:prstGeom prst="rect">
            <a:avLst/>
          </a:prstGeom>
          <a:noFill/>
        </p:spPr>
        <p:txBody>
          <a:bodyPr wrap="square" anchor="ctr" lIns="0" rIns="0" tIns="0" bIns="0">
            <a:spAutoFit/>
          </a:bodyPr>
          <a:lstStyle/>
          <a:p>
            <a:pPr algn="ctr">
              <a:lnSpc>
                <a:spcPct val="100000"/>
              </a:lnSpc>
            </a:pPr>
            <a:r>
              <a:rPr sz="1300" b="1" i="0">
                <a:solidFill>
                  <a:srgbClr val="FFFFFF"/>
                </a:solidFill>
                <a:latin typeface="Century Gothic"/>
              </a:rPr>
              <a:t>Months 0-2</a:t>
            </a:r>
          </a:p>
        </p:txBody>
      </p:sp>
      <p:sp>
        <p:nvSpPr>
          <p:cNvPr id="12" name="Rectangle 11"/>
          <p:cNvSpPr/>
          <p:nvPr/>
        </p:nvSpPr>
        <p:spPr>
          <a:xfrm>
            <a:off x="365760" y="1965960"/>
            <a:ext cx="2697480" cy="237744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2920" y="210312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Unit-Economics Engine live</a:t>
            </a:r>
          </a:p>
        </p:txBody>
      </p:sp>
      <p:sp>
        <p:nvSpPr>
          <p:cNvPr id="14" name="TextBox 13"/>
          <p:cNvSpPr txBox="1"/>
          <p:nvPr/>
        </p:nvSpPr>
        <p:spPr>
          <a:xfrm>
            <a:off x="502920" y="283464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City/cohort profitability ranking</a:t>
            </a:r>
          </a:p>
        </p:txBody>
      </p:sp>
      <p:sp>
        <p:nvSpPr>
          <p:cNvPr id="15" name="TextBox 14"/>
          <p:cNvSpPr txBox="1"/>
          <p:nvPr/>
        </p:nvSpPr>
        <p:spPr>
          <a:xfrm>
            <a:off x="502920" y="356616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Route optimization + demand forecasting begin</a:t>
            </a:r>
          </a:p>
        </p:txBody>
      </p:sp>
      <p:sp>
        <p:nvSpPr>
          <p:cNvPr id="16" name="TextBox 15"/>
          <p:cNvSpPr txBox="1"/>
          <p:nvPr/>
        </p:nvSpPr>
        <p:spPr>
          <a:xfrm>
            <a:off x="3063240" y="1417320"/>
            <a:ext cx="274320" cy="457200"/>
          </a:xfrm>
          <a:prstGeom prst="rect">
            <a:avLst/>
          </a:prstGeom>
          <a:noFill/>
        </p:spPr>
        <p:txBody>
          <a:bodyPr wrap="square" anchor="ctr" lIns="0" rIns="0" tIns="0" bIns="0">
            <a:spAutoFit/>
          </a:bodyPr>
          <a:lstStyle/>
          <a:p>
            <a:pPr algn="ctr">
              <a:lnSpc>
                <a:spcPct val="100000"/>
              </a:lnSpc>
            </a:pPr>
            <a:r>
              <a:rPr sz="1600" b="1" i="0">
                <a:solidFill>
                  <a:srgbClr val="5B6472"/>
                </a:solidFill>
                <a:latin typeface="Segoe UI"/>
              </a:rPr>
              <a:t>→</a:t>
            </a:r>
          </a:p>
        </p:txBody>
      </p:sp>
      <p:sp>
        <p:nvSpPr>
          <p:cNvPr id="17" name="Rounded Rectangle 16"/>
          <p:cNvSpPr/>
          <p:nvPr/>
        </p:nvSpPr>
        <p:spPr>
          <a:xfrm>
            <a:off x="3337560" y="1417320"/>
            <a:ext cx="2697480" cy="457200"/>
          </a:xfrm>
          <a:prstGeom prst="round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337560" y="1417320"/>
            <a:ext cx="2697480" cy="457200"/>
          </a:xfrm>
          <a:prstGeom prst="rect">
            <a:avLst/>
          </a:prstGeom>
          <a:noFill/>
        </p:spPr>
        <p:txBody>
          <a:bodyPr wrap="square" anchor="ctr" lIns="0" rIns="0" tIns="0" bIns="0">
            <a:spAutoFit/>
          </a:bodyPr>
          <a:lstStyle/>
          <a:p>
            <a:pPr algn="ctr">
              <a:lnSpc>
                <a:spcPct val="100000"/>
              </a:lnSpc>
            </a:pPr>
            <a:r>
              <a:rPr sz="1300" b="1" i="0">
                <a:solidFill>
                  <a:srgbClr val="FFFFFF"/>
                </a:solidFill>
                <a:latin typeface="Century Gothic"/>
              </a:rPr>
              <a:t>Months 2-4</a:t>
            </a:r>
          </a:p>
        </p:txBody>
      </p:sp>
      <p:sp>
        <p:nvSpPr>
          <p:cNvPr id="19" name="Rectangle 18"/>
          <p:cNvSpPr/>
          <p:nvPr/>
        </p:nvSpPr>
        <p:spPr>
          <a:xfrm>
            <a:off x="3337560" y="1965960"/>
            <a:ext cx="2697480" cy="237744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474720" y="210312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Dynamic rider allocation</a:t>
            </a:r>
          </a:p>
        </p:txBody>
      </p:sp>
      <p:sp>
        <p:nvSpPr>
          <p:cNvPr id="21" name="TextBox 20"/>
          <p:cNvSpPr txBox="1"/>
          <p:nvPr/>
        </p:nvSpPr>
        <p:spPr>
          <a:xfrm>
            <a:off x="3474720" y="283464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Packaging cost tuning</a:t>
            </a:r>
          </a:p>
        </p:txBody>
      </p:sp>
      <p:sp>
        <p:nvSpPr>
          <p:cNvPr id="22" name="TextBox 21"/>
          <p:cNvSpPr txBox="1"/>
          <p:nvPr/>
        </p:nvSpPr>
        <p:spPr>
          <a:xfrm>
            <a:off x="3474720" y="356616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Predictive reorder prompts ship</a:t>
            </a:r>
          </a:p>
        </p:txBody>
      </p:sp>
      <p:sp>
        <p:nvSpPr>
          <p:cNvPr id="23" name="TextBox 22"/>
          <p:cNvSpPr txBox="1"/>
          <p:nvPr/>
        </p:nvSpPr>
        <p:spPr>
          <a:xfrm>
            <a:off x="6035040" y="1417320"/>
            <a:ext cx="274320" cy="457200"/>
          </a:xfrm>
          <a:prstGeom prst="rect">
            <a:avLst/>
          </a:prstGeom>
          <a:noFill/>
        </p:spPr>
        <p:txBody>
          <a:bodyPr wrap="square" anchor="ctr" lIns="0" rIns="0" tIns="0" bIns="0">
            <a:spAutoFit/>
          </a:bodyPr>
          <a:lstStyle/>
          <a:p>
            <a:pPr algn="ctr">
              <a:lnSpc>
                <a:spcPct val="100000"/>
              </a:lnSpc>
            </a:pPr>
            <a:r>
              <a:rPr sz="1600" b="1" i="0">
                <a:solidFill>
                  <a:srgbClr val="5B6472"/>
                </a:solidFill>
                <a:latin typeface="Segoe UI"/>
              </a:rPr>
              <a:t>→</a:t>
            </a:r>
          </a:p>
        </p:txBody>
      </p:sp>
      <p:sp>
        <p:nvSpPr>
          <p:cNvPr id="24" name="Rounded Rectangle 23"/>
          <p:cNvSpPr/>
          <p:nvPr/>
        </p:nvSpPr>
        <p:spPr>
          <a:xfrm>
            <a:off x="6309360" y="1417320"/>
            <a:ext cx="2697480" cy="457200"/>
          </a:xfrm>
          <a:prstGeom prst="round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1417320"/>
            <a:ext cx="2697480" cy="457200"/>
          </a:xfrm>
          <a:prstGeom prst="rect">
            <a:avLst/>
          </a:prstGeom>
          <a:noFill/>
        </p:spPr>
        <p:txBody>
          <a:bodyPr wrap="square" anchor="ctr" lIns="0" rIns="0" tIns="0" bIns="0">
            <a:spAutoFit/>
          </a:bodyPr>
          <a:lstStyle/>
          <a:p>
            <a:pPr algn="ctr">
              <a:lnSpc>
                <a:spcPct val="100000"/>
              </a:lnSpc>
            </a:pPr>
            <a:r>
              <a:rPr sz="1300" b="1" i="0">
                <a:solidFill>
                  <a:srgbClr val="FFFFFF"/>
                </a:solidFill>
                <a:latin typeface="Century Gothic"/>
              </a:rPr>
              <a:t>Months 4-8</a:t>
            </a:r>
          </a:p>
        </p:txBody>
      </p:sp>
      <p:sp>
        <p:nvSpPr>
          <p:cNvPr id="26" name="Rectangle 25"/>
          <p:cNvSpPr/>
          <p:nvPr/>
        </p:nvSpPr>
        <p:spPr>
          <a:xfrm>
            <a:off x="6309360" y="1965960"/>
            <a:ext cx="2697480" cy="237744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446520" y="210312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Loyalty / subscription tier</a:t>
            </a:r>
          </a:p>
        </p:txBody>
      </p:sp>
      <p:sp>
        <p:nvSpPr>
          <p:cNvPr id="28" name="TextBox 27"/>
          <p:cNvSpPr txBox="1"/>
          <p:nvPr/>
        </p:nvSpPr>
        <p:spPr>
          <a:xfrm>
            <a:off x="6446520" y="283464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Targeted churn-risk promotions</a:t>
            </a:r>
          </a:p>
        </p:txBody>
      </p:sp>
      <p:sp>
        <p:nvSpPr>
          <p:cNvPr id="29" name="TextBox 28"/>
          <p:cNvSpPr txBox="1"/>
          <p:nvPr/>
        </p:nvSpPr>
        <p:spPr>
          <a:xfrm>
            <a:off x="6446520" y="356616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Cost-per-order trending down city by city</a:t>
            </a:r>
          </a:p>
        </p:txBody>
      </p:sp>
      <p:sp>
        <p:nvSpPr>
          <p:cNvPr id="30" name="TextBox 29"/>
          <p:cNvSpPr txBox="1"/>
          <p:nvPr/>
        </p:nvSpPr>
        <p:spPr>
          <a:xfrm>
            <a:off x="9006840" y="1417320"/>
            <a:ext cx="274320" cy="457200"/>
          </a:xfrm>
          <a:prstGeom prst="rect">
            <a:avLst/>
          </a:prstGeom>
          <a:noFill/>
        </p:spPr>
        <p:txBody>
          <a:bodyPr wrap="square" anchor="ctr" lIns="0" rIns="0" tIns="0" bIns="0">
            <a:spAutoFit/>
          </a:bodyPr>
          <a:lstStyle/>
          <a:p>
            <a:pPr algn="ctr">
              <a:lnSpc>
                <a:spcPct val="100000"/>
              </a:lnSpc>
            </a:pPr>
            <a:r>
              <a:rPr sz="1600" b="1" i="0">
                <a:solidFill>
                  <a:srgbClr val="5B6472"/>
                </a:solidFill>
                <a:latin typeface="Segoe UI"/>
              </a:rPr>
              <a:t>→</a:t>
            </a:r>
          </a:p>
        </p:txBody>
      </p:sp>
      <p:sp>
        <p:nvSpPr>
          <p:cNvPr id="31" name="Rounded Rectangle 30"/>
          <p:cNvSpPr/>
          <p:nvPr/>
        </p:nvSpPr>
        <p:spPr>
          <a:xfrm>
            <a:off x="9281160" y="1417320"/>
            <a:ext cx="2697480" cy="457200"/>
          </a:xfrm>
          <a:prstGeom prst="roundRect">
            <a:avLst/>
          </a:prstGeom>
          <a:solidFill>
            <a:srgbClr val="5E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9281160" y="1417320"/>
            <a:ext cx="2697480" cy="457200"/>
          </a:xfrm>
          <a:prstGeom prst="rect">
            <a:avLst/>
          </a:prstGeom>
          <a:noFill/>
        </p:spPr>
        <p:txBody>
          <a:bodyPr wrap="square" anchor="ctr" lIns="0" rIns="0" tIns="0" bIns="0">
            <a:spAutoFit/>
          </a:bodyPr>
          <a:lstStyle/>
          <a:p>
            <a:pPr algn="ctr">
              <a:lnSpc>
                <a:spcPct val="100000"/>
              </a:lnSpc>
            </a:pPr>
            <a:r>
              <a:rPr sz="1300" b="1" i="0">
                <a:solidFill>
                  <a:srgbClr val="FFFFFF"/>
                </a:solidFill>
                <a:latin typeface="Century Gothic"/>
              </a:rPr>
              <a:t>Months 8-12</a:t>
            </a:r>
          </a:p>
        </p:txBody>
      </p:sp>
      <p:sp>
        <p:nvSpPr>
          <p:cNvPr id="33" name="Rectangle 32"/>
          <p:cNvSpPr/>
          <p:nvPr/>
        </p:nvSpPr>
        <p:spPr>
          <a:xfrm>
            <a:off x="9281160" y="1965960"/>
            <a:ext cx="2697480" cy="2377440"/>
          </a:xfrm>
          <a:prstGeom prst="rect">
            <a:avLst/>
          </a:prstGeom>
          <a:solidFill>
            <a:srgbClr val="F3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418320" y="210312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Reuse infra to pilot B2B logistics</a:t>
            </a:r>
          </a:p>
        </p:txBody>
      </p:sp>
      <p:sp>
        <p:nvSpPr>
          <p:cNvPr id="35" name="TextBox 34"/>
          <p:cNvSpPr txBox="1"/>
          <p:nvPr/>
        </p:nvSpPr>
        <p:spPr>
          <a:xfrm>
            <a:off x="9418320" y="283464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In 1-2 stabilized cities only</a:t>
            </a:r>
          </a:p>
        </p:txBody>
      </p:sp>
      <p:sp>
        <p:nvSpPr>
          <p:cNvPr id="36" name="TextBox 35"/>
          <p:cNvSpPr txBox="1"/>
          <p:nvPr/>
        </p:nvSpPr>
        <p:spPr>
          <a:xfrm>
            <a:off x="9418320" y="3566160"/>
            <a:ext cx="2423160" cy="777240"/>
          </a:xfrm>
          <a:prstGeom prst="rect">
            <a:avLst/>
          </a:prstGeom>
          <a:noFill/>
        </p:spPr>
        <p:txBody>
          <a:bodyPr wrap="square" anchor="t" lIns="0" rIns="0" tIns="0" bIns="0">
            <a:spAutoFit/>
          </a:bodyPr>
          <a:lstStyle/>
          <a:p>
            <a:pPr algn="l">
              <a:lnSpc>
                <a:spcPct val="110000"/>
              </a:lnSpc>
            </a:pPr>
            <a:r>
              <a:rPr sz="1030" b="0" i="1">
                <a:solidFill>
                  <a:srgbClr val="22222A"/>
                </a:solidFill>
                <a:latin typeface="Segoe UI"/>
              </a:rPr>
              <a:t>•  Funded by savings, not new capital</a:t>
            </a:r>
          </a:p>
        </p:txBody>
      </p:sp>
      <p:sp>
        <p:nvSpPr>
          <p:cNvPr id="37" name="TextBox 36"/>
          <p:cNvSpPr txBox="1"/>
          <p:nvPr/>
        </p:nvSpPr>
        <p:spPr>
          <a:xfrm>
            <a:off x="365760" y="4617720"/>
            <a:ext cx="11430000" cy="320040"/>
          </a:xfrm>
          <a:prstGeom prst="rect">
            <a:avLst/>
          </a:prstGeom>
          <a:noFill/>
        </p:spPr>
        <p:txBody>
          <a:bodyPr wrap="square" anchor="t" lIns="0" rIns="0" tIns="0" bIns="0">
            <a:spAutoFit/>
          </a:bodyPr>
          <a:lstStyle/>
          <a:p>
            <a:pPr algn="l">
              <a:lnSpc>
                <a:spcPct val="100000"/>
              </a:lnSpc>
            </a:pPr>
            <a:r>
              <a:rPr sz="1250" b="1" i="1">
                <a:solidFill>
                  <a:srgbClr val="5E4198"/>
                </a:solidFill>
                <a:latin typeface="Segoe UI"/>
              </a:rPr>
              <a:t>Every phase is funded by the previous one's savings — no new capital is assumed beyond the current runway.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66928"/>
          </a:xfrm>
          <a:prstGeom prst="rect">
            <a:avLst/>
          </a:prstGeom>
          <a:solidFill>
            <a:srgbClr val="00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0"/>
            <a:ext cx="6858000" cy="566928"/>
          </a:xfrm>
          <a:prstGeom prst="rect">
            <a:avLst/>
          </a:prstGeom>
          <a:noFill/>
        </p:spPr>
        <p:txBody>
          <a:bodyPr wrap="square" anchor="ctr" lIns="0" rIns="0" tIns="0" bIns="0">
            <a:spAutoFit/>
          </a:bodyPr>
          <a:lstStyle/>
          <a:p>
            <a:pPr algn="l">
              <a:lnSpc>
                <a:spcPct val="100000"/>
              </a:lnSpc>
            </a:pPr>
            <a:r>
              <a:rPr sz="1300" b="1" i="0">
                <a:solidFill>
                  <a:srgbClr val="FFFFFF"/>
                </a:solidFill>
                <a:latin typeface="Segoe UI"/>
              </a:rPr>
              <a:t>QUICKBASKET — PATH TO PROFITABILITY</a:t>
            </a:r>
          </a:p>
        </p:txBody>
      </p:sp>
      <p:sp>
        <p:nvSpPr>
          <p:cNvPr id="4" name="TextBox 3"/>
          <p:cNvSpPr txBox="1"/>
          <p:nvPr/>
        </p:nvSpPr>
        <p:spPr>
          <a:xfrm>
            <a:off x="8168335" y="0"/>
            <a:ext cx="3657600" cy="566928"/>
          </a:xfrm>
          <a:prstGeom prst="rect">
            <a:avLst/>
          </a:prstGeom>
          <a:noFill/>
        </p:spPr>
        <p:txBody>
          <a:bodyPr wrap="square" anchor="ctr" lIns="0" rIns="0" tIns="0" bIns="0">
            <a:spAutoFit/>
          </a:bodyPr>
          <a:lstStyle/>
          <a:p>
            <a:pPr algn="r">
              <a:lnSpc>
                <a:spcPct val="100000"/>
              </a:lnSpc>
            </a:pPr>
            <a:r>
              <a:rPr sz="1200" b="0" i="1">
                <a:solidFill>
                  <a:srgbClr val="E8E8EC"/>
                </a:solidFill>
                <a:latin typeface="Segoe UI"/>
              </a:rPr>
              <a:t>CTO Case Study Response</a:t>
            </a:r>
          </a:p>
        </p:txBody>
      </p:sp>
      <p:sp>
        <p:nvSpPr>
          <p:cNvPr id="5" name="Rectangle 4"/>
          <p:cNvSpPr/>
          <p:nvPr/>
        </p:nvSpPr>
        <p:spPr>
          <a:xfrm>
            <a:off x="0" y="566928"/>
            <a:ext cx="12191695" cy="54864"/>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775704"/>
            <a:ext cx="12191695" cy="82296"/>
          </a:xfrm>
          <a:prstGeom prst="rect">
            <a:avLst/>
          </a:prstGeom>
          <a:gradFill rotWithShape="1">
            <a:gsLst>
              <a:gs pos="0">
                <a:srgbClr val="FF6501"/>
              </a:gs>
              <a:gs pos="100000">
                <a:srgbClr val="4658C9"/>
              </a:gs>
            </a:gsLst>
            <a:lin scaled="0" ang="0"/>
          </a:gra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77295" y="6473952"/>
            <a:ext cx="640080" cy="274320"/>
          </a:xfrm>
          <a:prstGeom prst="rect">
            <a:avLst/>
          </a:prstGeom>
          <a:noFill/>
        </p:spPr>
        <p:txBody>
          <a:bodyPr wrap="square" anchor="t" lIns="0" rIns="0" tIns="0" bIns="0">
            <a:spAutoFit/>
          </a:bodyPr>
          <a:lstStyle/>
          <a:p>
            <a:pPr algn="r">
              <a:lnSpc>
                <a:spcPct val="100000"/>
              </a:lnSpc>
            </a:pPr>
            <a:r>
              <a:rPr sz="1100" b="1" i="0">
                <a:solidFill>
                  <a:srgbClr val="0B2447"/>
                </a:solidFill>
                <a:latin typeface="Segoe UI"/>
              </a:rPr>
              <a:t>8</a:t>
            </a:r>
          </a:p>
        </p:txBody>
      </p:sp>
      <p:sp>
        <p:nvSpPr>
          <p:cNvPr id="8" name="TextBox 7"/>
          <p:cNvSpPr txBox="1"/>
          <p:nvPr/>
        </p:nvSpPr>
        <p:spPr>
          <a:xfrm>
            <a:off x="365760" y="658368"/>
            <a:ext cx="10515600" cy="274320"/>
          </a:xfrm>
          <a:prstGeom prst="rect">
            <a:avLst/>
          </a:prstGeom>
          <a:noFill/>
        </p:spPr>
        <p:txBody>
          <a:bodyPr wrap="square" anchor="t" lIns="0" rIns="0" tIns="0" bIns="0">
            <a:spAutoFit/>
          </a:bodyPr>
          <a:lstStyle/>
          <a:p>
            <a:pPr algn="l">
              <a:lnSpc>
                <a:spcPct val="100000"/>
              </a:lnSpc>
            </a:pPr>
            <a:r>
              <a:rPr sz="1150" b="1" i="0">
                <a:solidFill>
                  <a:srgbClr val="E06A1F"/>
                </a:solidFill>
                <a:latin typeface="Segoe UI"/>
              </a:rPr>
              <a:t>ACCOUNTABILITY</a:t>
            </a:r>
          </a:p>
        </p:txBody>
      </p:sp>
      <p:sp>
        <p:nvSpPr>
          <p:cNvPr id="9" name="TextBox 8"/>
          <p:cNvSpPr txBox="1"/>
          <p:nvPr/>
        </p:nvSpPr>
        <p:spPr>
          <a:xfrm>
            <a:off x="365760" y="914400"/>
            <a:ext cx="11430000" cy="502920"/>
          </a:xfrm>
          <a:prstGeom prst="rect">
            <a:avLst/>
          </a:prstGeom>
          <a:noFill/>
        </p:spPr>
        <p:txBody>
          <a:bodyPr wrap="square" anchor="t" lIns="0" rIns="0" tIns="0" bIns="0">
            <a:spAutoFit/>
          </a:bodyPr>
          <a:lstStyle/>
          <a:p>
            <a:pPr algn="l">
              <a:lnSpc>
                <a:spcPct val="100000"/>
              </a:lnSpc>
            </a:pPr>
            <a:r>
              <a:rPr sz="2250" b="1" i="0">
                <a:solidFill>
                  <a:srgbClr val="0B2447"/>
                </a:solidFill>
                <a:latin typeface="Century Gothic"/>
              </a:rPr>
              <a:t>What Technology Will Track Over the Next 12 Months</a:t>
            </a:r>
          </a:p>
        </p:txBody>
      </p:sp>
      <p:sp>
        <p:nvSpPr>
          <p:cNvPr id="10" name="Rectangle 9"/>
          <p:cNvSpPr/>
          <p:nvPr/>
        </p:nvSpPr>
        <p:spPr>
          <a:xfrm>
            <a:off x="365760" y="1508760"/>
            <a:ext cx="3794760" cy="1417320"/>
          </a:xfrm>
          <a:prstGeom prst="rect">
            <a:avLst/>
          </a:prstGeom>
          <a:solidFill>
            <a:srgbClr val="F3F4F8"/>
          </a:solidFill>
          <a:ln w="9525">
            <a:solidFill>
              <a:srgbClr val="D7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65760" y="1508760"/>
            <a:ext cx="109728" cy="1417320"/>
          </a:xfrm>
          <a:prstGeom prst="rect">
            <a:avLst/>
          </a:prstGeom>
          <a:solidFill>
            <a:srgbClr val="1B7F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618488"/>
            <a:ext cx="3337560" cy="548640"/>
          </a:xfrm>
          <a:prstGeom prst="rect">
            <a:avLst/>
          </a:prstGeom>
          <a:noFill/>
        </p:spPr>
        <p:txBody>
          <a:bodyPr wrap="square" anchor="t" lIns="0" rIns="0" tIns="0" bIns="0">
            <a:spAutoFit/>
          </a:bodyPr>
          <a:lstStyle/>
          <a:p>
            <a:pPr algn="l">
              <a:lnSpc>
                <a:spcPct val="105000"/>
              </a:lnSpc>
            </a:pPr>
            <a:r>
              <a:rPr sz="1300" b="1" i="0">
                <a:solidFill>
                  <a:srgbClr val="0B2447"/>
                </a:solidFill>
                <a:latin typeface="Segoe UI"/>
              </a:rPr>
              <a:t>Contribution margin / order</a:t>
            </a:r>
          </a:p>
        </p:txBody>
      </p:sp>
      <p:sp>
        <p:nvSpPr>
          <p:cNvPr id="13" name="TextBox 12"/>
          <p:cNvSpPr txBox="1"/>
          <p:nvPr/>
        </p:nvSpPr>
        <p:spPr>
          <a:xfrm>
            <a:off x="621792" y="2194560"/>
            <a:ext cx="3337560" cy="64008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Target: positive within 4 months in kept cities.</a:t>
            </a:r>
          </a:p>
        </p:txBody>
      </p:sp>
      <p:sp>
        <p:nvSpPr>
          <p:cNvPr id="14" name="Rectangle 13"/>
          <p:cNvSpPr/>
          <p:nvPr/>
        </p:nvSpPr>
        <p:spPr>
          <a:xfrm>
            <a:off x="4343400" y="1508760"/>
            <a:ext cx="3794760" cy="1417320"/>
          </a:xfrm>
          <a:prstGeom prst="rect">
            <a:avLst/>
          </a:prstGeom>
          <a:solidFill>
            <a:srgbClr val="F3F4F8"/>
          </a:solidFill>
          <a:ln w="9525">
            <a:solidFill>
              <a:srgbClr val="D7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43400" y="1508760"/>
            <a:ext cx="109728" cy="1417320"/>
          </a:xfrm>
          <a:prstGeom prst="rect">
            <a:avLst/>
          </a:prstGeom>
          <a:solidFill>
            <a:srgbClr val="E06A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99432" y="1618488"/>
            <a:ext cx="3337560" cy="548640"/>
          </a:xfrm>
          <a:prstGeom prst="rect">
            <a:avLst/>
          </a:prstGeom>
          <a:noFill/>
        </p:spPr>
        <p:txBody>
          <a:bodyPr wrap="square" anchor="t" lIns="0" rIns="0" tIns="0" bIns="0">
            <a:spAutoFit/>
          </a:bodyPr>
          <a:lstStyle/>
          <a:p>
            <a:pPr algn="l">
              <a:lnSpc>
                <a:spcPct val="105000"/>
              </a:lnSpc>
            </a:pPr>
            <a:r>
              <a:rPr sz="1300" b="1" i="0">
                <a:solidFill>
                  <a:srgbClr val="0B2447"/>
                </a:solidFill>
                <a:latin typeface="Segoe UI"/>
              </a:rPr>
              <a:t>Cost per order (delivery + warehouse)</a:t>
            </a:r>
          </a:p>
        </p:txBody>
      </p:sp>
      <p:sp>
        <p:nvSpPr>
          <p:cNvPr id="17" name="TextBox 16"/>
          <p:cNvSpPr txBox="1"/>
          <p:nvPr/>
        </p:nvSpPr>
        <p:spPr>
          <a:xfrm>
            <a:off x="4599432" y="2194560"/>
            <a:ext cx="3337560" cy="64008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Must trend down monthly, city by city.</a:t>
            </a:r>
          </a:p>
        </p:txBody>
      </p:sp>
      <p:sp>
        <p:nvSpPr>
          <p:cNvPr id="18" name="Rectangle 17"/>
          <p:cNvSpPr/>
          <p:nvPr/>
        </p:nvSpPr>
        <p:spPr>
          <a:xfrm>
            <a:off x="8321040" y="1508760"/>
            <a:ext cx="3794760" cy="1417320"/>
          </a:xfrm>
          <a:prstGeom prst="rect">
            <a:avLst/>
          </a:prstGeom>
          <a:solidFill>
            <a:srgbClr val="F3F4F8"/>
          </a:solidFill>
          <a:ln w="9525">
            <a:solidFill>
              <a:srgbClr val="D7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321040" y="1508760"/>
            <a:ext cx="109728" cy="1417320"/>
          </a:xfrm>
          <a:prstGeom prst="rect">
            <a:avLst/>
          </a:prstGeom>
          <a:solidFill>
            <a:srgbClr val="4658C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577072" y="1618488"/>
            <a:ext cx="3337560" cy="548640"/>
          </a:xfrm>
          <a:prstGeom prst="rect">
            <a:avLst/>
          </a:prstGeom>
          <a:noFill/>
        </p:spPr>
        <p:txBody>
          <a:bodyPr wrap="square" anchor="t" lIns="0" rIns="0" tIns="0" bIns="0">
            <a:spAutoFit/>
          </a:bodyPr>
          <a:lstStyle/>
          <a:p>
            <a:pPr algn="l">
              <a:lnSpc>
                <a:spcPct val="105000"/>
              </a:lnSpc>
            </a:pPr>
            <a:r>
              <a:rPr sz="1300" b="1" i="0">
                <a:solidFill>
                  <a:srgbClr val="0B2447"/>
                </a:solidFill>
                <a:latin typeface="Segoe UI"/>
              </a:rPr>
              <a:t>Repeat-order rate excluding discount periods</a:t>
            </a:r>
          </a:p>
        </p:txBody>
      </p:sp>
      <p:sp>
        <p:nvSpPr>
          <p:cNvPr id="21" name="TextBox 20"/>
          <p:cNvSpPr txBox="1"/>
          <p:nvPr/>
        </p:nvSpPr>
        <p:spPr>
          <a:xfrm>
            <a:off x="8577072" y="2194560"/>
            <a:ext cx="3337560" cy="64008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The real test of retention, not vanity DAUs.</a:t>
            </a:r>
          </a:p>
        </p:txBody>
      </p:sp>
      <p:sp>
        <p:nvSpPr>
          <p:cNvPr id="22" name="Rectangle 21"/>
          <p:cNvSpPr/>
          <p:nvPr/>
        </p:nvSpPr>
        <p:spPr>
          <a:xfrm>
            <a:off x="365760" y="3108960"/>
            <a:ext cx="3794760" cy="1417320"/>
          </a:xfrm>
          <a:prstGeom prst="rect">
            <a:avLst/>
          </a:prstGeom>
          <a:solidFill>
            <a:srgbClr val="F3F4F8"/>
          </a:solidFill>
          <a:ln w="9525">
            <a:solidFill>
              <a:srgbClr val="D7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5760" y="3108960"/>
            <a:ext cx="109728" cy="1417320"/>
          </a:xfrm>
          <a:prstGeom prst="rect">
            <a:avLst/>
          </a:prstGeom>
          <a:solidFill>
            <a:srgbClr val="5E419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21792" y="3218688"/>
            <a:ext cx="3337560" cy="548640"/>
          </a:xfrm>
          <a:prstGeom prst="rect">
            <a:avLst/>
          </a:prstGeom>
          <a:noFill/>
        </p:spPr>
        <p:txBody>
          <a:bodyPr wrap="square" anchor="t" lIns="0" rIns="0" tIns="0" bIns="0">
            <a:spAutoFit/>
          </a:bodyPr>
          <a:lstStyle/>
          <a:p>
            <a:pPr algn="l">
              <a:lnSpc>
                <a:spcPct val="105000"/>
              </a:lnSpc>
            </a:pPr>
            <a:r>
              <a:rPr sz="1300" b="1" i="0">
                <a:solidFill>
                  <a:srgbClr val="0B2447"/>
                </a:solidFill>
                <a:latin typeface="Segoe UI"/>
              </a:rPr>
              <a:t>Rider utilization %</a:t>
            </a:r>
          </a:p>
        </p:txBody>
      </p:sp>
      <p:sp>
        <p:nvSpPr>
          <p:cNvPr id="25" name="TextBox 24"/>
          <p:cNvSpPr txBox="1"/>
          <p:nvPr/>
        </p:nvSpPr>
        <p:spPr>
          <a:xfrm>
            <a:off x="621792" y="3794760"/>
            <a:ext cx="3337560" cy="64008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Idle-time cost is a direct lever on margin.</a:t>
            </a:r>
          </a:p>
        </p:txBody>
      </p:sp>
      <p:sp>
        <p:nvSpPr>
          <p:cNvPr id="26" name="Rectangle 25"/>
          <p:cNvSpPr/>
          <p:nvPr/>
        </p:nvSpPr>
        <p:spPr>
          <a:xfrm>
            <a:off x="4343400" y="3108960"/>
            <a:ext cx="3794760" cy="1417320"/>
          </a:xfrm>
          <a:prstGeom prst="rect">
            <a:avLst/>
          </a:prstGeom>
          <a:solidFill>
            <a:srgbClr val="F3F4F8"/>
          </a:solidFill>
          <a:ln w="9525">
            <a:solidFill>
              <a:srgbClr val="D7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343400" y="3108960"/>
            <a:ext cx="109728" cy="1417320"/>
          </a:xfrm>
          <a:prstGeom prst="rect">
            <a:avLst/>
          </a:prstGeom>
          <a:solidFill>
            <a:srgbClr val="0B24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599432" y="3218688"/>
            <a:ext cx="3337560" cy="548640"/>
          </a:xfrm>
          <a:prstGeom prst="rect">
            <a:avLst/>
          </a:prstGeom>
          <a:noFill/>
        </p:spPr>
        <p:txBody>
          <a:bodyPr wrap="square" anchor="t" lIns="0" rIns="0" tIns="0" bIns="0">
            <a:spAutoFit/>
          </a:bodyPr>
          <a:lstStyle/>
          <a:p>
            <a:pPr algn="l">
              <a:lnSpc>
                <a:spcPct val="105000"/>
              </a:lnSpc>
            </a:pPr>
            <a:r>
              <a:rPr sz="1300" b="1" i="0">
                <a:solidFill>
                  <a:srgbClr val="0B2447"/>
                </a:solidFill>
                <a:latin typeface="Segoe UI"/>
              </a:rPr>
              <a:t>Demand-forecast accuracy / spoilage %</a:t>
            </a:r>
          </a:p>
        </p:txBody>
      </p:sp>
      <p:sp>
        <p:nvSpPr>
          <p:cNvPr id="29" name="TextBox 28"/>
          <p:cNvSpPr txBox="1"/>
          <p:nvPr/>
        </p:nvSpPr>
        <p:spPr>
          <a:xfrm>
            <a:off x="4599432" y="3794760"/>
            <a:ext cx="3337560" cy="64008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Ties inventory tech directly to cash saved.</a:t>
            </a:r>
          </a:p>
        </p:txBody>
      </p:sp>
      <p:sp>
        <p:nvSpPr>
          <p:cNvPr id="30" name="Rectangle 29"/>
          <p:cNvSpPr/>
          <p:nvPr/>
        </p:nvSpPr>
        <p:spPr>
          <a:xfrm>
            <a:off x="8321040" y="3108960"/>
            <a:ext cx="3794760" cy="1417320"/>
          </a:xfrm>
          <a:prstGeom prst="rect">
            <a:avLst/>
          </a:prstGeom>
          <a:solidFill>
            <a:srgbClr val="F3F4F8"/>
          </a:solidFill>
          <a:ln w="9525">
            <a:solidFill>
              <a:srgbClr val="D7DC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321040" y="3108960"/>
            <a:ext cx="109728" cy="1417320"/>
          </a:xfrm>
          <a:prstGeom prst="rect">
            <a:avLst/>
          </a:prstGeom>
          <a:solidFill>
            <a:srgbClr val="B33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77072" y="3218688"/>
            <a:ext cx="3337560" cy="548640"/>
          </a:xfrm>
          <a:prstGeom prst="rect">
            <a:avLst/>
          </a:prstGeom>
          <a:noFill/>
        </p:spPr>
        <p:txBody>
          <a:bodyPr wrap="square" anchor="t" lIns="0" rIns="0" tIns="0" bIns="0">
            <a:spAutoFit/>
          </a:bodyPr>
          <a:lstStyle/>
          <a:p>
            <a:pPr algn="l">
              <a:lnSpc>
                <a:spcPct val="105000"/>
              </a:lnSpc>
            </a:pPr>
            <a:r>
              <a:rPr sz="1300" b="1" i="0">
                <a:solidFill>
                  <a:srgbClr val="0B2447"/>
                </a:solidFill>
                <a:latin typeface="Segoe UI"/>
              </a:rPr>
              <a:t>Engineering cost as % of revenue</a:t>
            </a:r>
          </a:p>
        </p:txBody>
      </p:sp>
      <p:sp>
        <p:nvSpPr>
          <p:cNvPr id="33" name="TextBox 32"/>
          <p:cNvSpPr txBox="1"/>
          <p:nvPr/>
        </p:nvSpPr>
        <p:spPr>
          <a:xfrm>
            <a:off x="8577072" y="3794760"/>
            <a:ext cx="3337560" cy="640080"/>
          </a:xfrm>
          <a:prstGeom prst="rect">
            <a:avLst/>
          </a:prstGeom>
          <a:noFill/>
        </p:spPr>
        <p:txBody>
          <a:bodyPr wrap="square" anchor="t" lIns="0" rIns="0" tIns="0" bIns="0">
            <a:spAutoFit/>
          </a:bodyPr>
          <a:lstStyle/>
          <a:p>
            <a:pPr algn="l">
              <a:lnSpc>
                <a:spcPct val="110000"/>
              </a:lnSpc>
            </a:pPr>
            <a:r>
              <a:rPr sz="1100" b="0" i="1">
                <a:solidFill>
                  <a:srgbClr val="22222A"/>
                </a:solidFill>
                <a:latin typeface="Segoe UI"/>
              </a:rPr>
              <a:t>Keeps tech investment itself inside the profitability story.</a:t>
            </a:r>
          </a:p>
        </p:txBody>
      </p:sp>
      <p:sp>
        <p:nvSpPr>
          <p:cNvPr id="34" name="TextBox 33"/>
          <p:cNvSpPr txBox="1"/>
          <p:nvPr/>
        </p:nvSpPr>
        <p:spPr>
          <a:xfrm>
            <a:off x="365760" y="4892040"/>
            <a:ext cx="11430000" cy="1188720"/>
          </a:xfrm>
          <a:prstGeom prst="rect">
            <a:avLst/>
          </a:prstGeom>
          <a:noFill/>
        </p:spPr>
        <p:txBody>
          <a:bodyPr wrap="square" anchor="t" lIns="0" rIns="0" tIns="0" bIns="0">
            <a:spAutoFit/>
          </a:bodyPr>
          <a:lstStyle/>
          <a:p>
            <a:pPr algn="l">
              <a:lnSpc>
                <a:spcPct val="125000"/>
              </a:lnSpc>
            </a:pPr>
            <a:r>
              <a:rPr sz="1300" b="0" i="1">
                <a:solidFill>
                  <a:srgbClr val="22222A"/>
                </a:solidFill>
                <a:latin typeface="Segoe UI"/>
              </a:rPr>
              <a:t>Technology's contribution to survival is simple to state: turn "losing money on almost every order" into a number leadership can see improve every week, and give the product a reason to be used that isn't a coupon. That is what buys QuickBasket its next 12 months.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